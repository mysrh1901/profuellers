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Arimo Italics" panose="020B0604020202020204" charset="0"/>
      <p:regular r:id="rId6"/>
    </p:embeddedFont>
    <p:embeddedFont>
      <p:font typeface="Open Sauce" panose="020B0604020202020204" charset="0"/>
      <p:regular r:id="rId7"/>
    </p:embeddedFont>
    <p:embeddedFont>
      <p:font typeface="Open Sauce Bold" panose="020B0604020202020204" charset="0"/>
      <p:regular r:id="rId8"/>
    </p:embeddedFont>
    <p:embeddedFont>
      <p:font typeface="Open Sauce Light" panose="020B0604020202020204" charset="0"/>
      <p:regular r:id="rId9"/>
    </p:embeddedFont>
    <p:embeddedFont>
      <p:font typeface="Times New Roman MT" panose="020B0604020202020204" charset="0"/>
      <p:regular r:id="rId10"/>
    </p:embeddedFont>
    <p:embeddedFont>
      <p:font typeface="Times New Roman MT Bold" panose="020B0604020202020204" charset="0"/>
      <p:regular r:id="rId11"/>
    </p:embeddedFont>
    <p:embeddedFont>
      <p:font typeface="Times New Roman MT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27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forms.office.com/r/rg9d31jtMK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920444">
            <a:off x="197852" y="1167149"/>
            <a:ext cx="7648042" cy="7091821"/>
          </a:xfrm>
          <a:custGeom>
            <a:avLst/>
            <a:gdLst/>
            <a:ahLst/>
            <a:cxnLst/>
            <a:rect l="l" t="t" r="r" b="b"/>
            <a:pathLst>
              <a:path w="7648042" h="7091821">
                <a:moveTo>
                  <a:pt x="0" y="0"/>
                </a:moveTo>
                <a:lnTo>
                  <a:pt x="7648042" y="0"/>
                </a:lnTo>
                <a:lnTo>
                  <a:pt x="7648042" y="7091821"/>
                </a:lnTo>
                <a:lnTo>
                  <a:pt x="0" y="7091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180677" y="-320642"/>
            <a:ext cx="11740171" cy="10886340"/>
          </a:xfrm>
          <a:custGeom>
            <a:avLst/>
            <a:gdLst/>
            <a:ahLst/>
            <a:cxnLst/>
            <a:rect l="l" t="t" r="r" b="b"/>
            <a:pathLst>
              <a:path w="11740171" h="10886340">
                <a:moveTo>
                  <a:pt x="0" y="0"/>
                </a:moveTo>
                <a:lnTo>
                  <a:pt x="11740170" y="0"/>
                </a:lnTo>
                <a:lnTo>
                  <a:pt x="11740170" y="10886340"/>
                </a:lnTo>
                <a:lnTo>
                  <a:pt x="0" y="10886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5246260">
            <a:off x="-5721558" y="5786916"/>
            <a:ext cx="11740171" cy="10886340"/>
          </a:xfrm>
          <a:custGeom>
            <a:avLst/>
            <a:gdLst/>
            <a:ahLst/>
            <a:cxnLst/>
            <a:rect l="l" t="t" r="r" b="b"/>
            <a:pathLst>
              <a:path w="11740171" h="10886340">
                <a:moveTo>
                  <a:pt x="0" y="0"/>
                </a:moveTo>
                <a:lnTo>
                  <a:pt x="11740171" y="0"/>
                </a:lnTo>
                <a:lnTo>
                  <a:pt x="11740171" y="10886340"/>
                </a:lnTo>
                <a:lnTo>
                  <a:pt x="0" y="10886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776464" y="7509332"/>
            <a:ext cx="6548597" cy="1219676"/>
          </a:xfrm>
          <a:custGeom>
            <a:avLst/>
            <a:gdLst/>
            <a:ahLst/>
            <a:cxnLst/>
            <a:rect l="l" t="t" r="r" b="b"/>
            <a:pathLst>
              <a:path w="6548597" h="1219676">
                <a:moveTo>
                  <a:pt x="0" y="0"/>
                </a:moveTo>
                <a:lnTo>
                  <a:pt x="6548597" y="0"/>
                </a:lnTo>
                <a:lnTo>
                  <a:pt x="6548597" y="1219676"/>
                </a:lnTo>
                <a:lnTo>
                  <a:pt x="0" y="12196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776464" y="1580415"/>
            <a:ext cx="7010957" cy="7312601"/>
          </a:xfrm>
          <a:custGeom>
            <a:avLst/>
            <a:gdLst/>
            <a:ahLst/>
            <a:cxnLst/>
            <a:rect l="l" t="t" r="r" b="b"/>
            <a:pathLst>
              <a:path w="7010957" h="7312601">
                <a:moveTo>
                  <a:pt x="0" y="0"/>
                </a:moveTo>
                <a:lnTo>
                  <a:pt x="7010956" y="0"/>
                </a:lnTo>
                <a:lnTo>
                  <a:pt x="7010956" y="7312601"/>
                </a:lnTo>
                <a:lnTo>
                  <a:pt x="0" y="7312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726642" y="8879766"/>
            <a:ext cx="452924" cy="452924"/>
          </a:xfrm>
          <a:custGeom>
            <a:avLst/>
            <a:gdLst/>
            <a:ahLst/>
            <a:cxnLst/>
            <a:rect l="l" t="t" r="r" b="b"/>
            <a:pathLst>
              <a:path w="452924" h="452924">
                <a:moveTo>
                  <a:pt x="0" y="0"/>
                </a:moveTo>
                <a:lnTo>
                  <a:pt x="452924" y="0"/>
                </a:lnTo>
                <a:lnTo>
                  <a:pt x="452924" y="452924"/>
                </a:lnTo>
                <a:lnTo>
                  <a:pt x="0" y="4529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816459" y="4629883"/>
            <a:ext cx="9778699" cy="1175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89"/>
              </a:lnSpc>
            </a:pPr>
            <a:r>
              <a:rPr lang="en-US" sz="6765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AGENTIC - ARENA </a:t>
            </a:r>
          </a:p>
        </p:txBody>
      </p:sp>
      <p:sp>
        <p:nvSpPr>
          <p:cNvPr id="9" name="Freeform 9"/>
          <p:cNvSpPr/>
          <p:nvPr/>
        </p:nvSpPr>
        <p:spPr>
          <a:xfrm>
            <a:off x="15508235" y="70227"/>
            <a:ext cx="2516889" cy="1212499"/>
          </a:xfrm>
          <a:custGeom>
            <a:avLst/>
            <a:gdLst/>
            <a:ahLst/>
            <a:cxnLst/>
            <a:rect l="l" t="t" r="r" b="b"/>
            <a:pathLst>
              <a:path w="2516889" h="1212499">
                <a:moveTo>
                  <a:pt x="0" y="0"/>
                </a:moveTo>
                <a:lnTo>
                  <a:pt x="2516889" y="0"/>
                </a:lnTo>
                <a:lnTo>
                  <a:pt x="2516889" y="1212500"/>
                </a:lnTo>
                <a:lnTo>
                  <a:pt x="0" y="1212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8527" y="70227"/>
            <a:ext cx="2949444" cy="1212499"/>
          </a:xfrm>
          <a:custGeom>
            <a:avLst/>
            <a:gdLst/>
            <a:ahLst/>
            <a:cxnLst/>
            <a:rect l="l" t="t" r="r" b="b"/>
            <a:pathLst>
              <a:path w="2949444" h="1212499">
                <a:moveTo>
                  <a:pt x="0" y="0"/>
                </a:moveTo>
                <a:lnTo>
                  <a:pt x="2949444" y="0"/>
                </a:lnTo>
                <a:lnTo>
                  <a:pt x="2949444" y="1212500"/>
                </a:lnTo>
                <a:lnTo>
                  <a:pt x="0" y="1212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632722" y="2777158"/>
            <a:ext cx="9235001" cy="1547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85"/>
              </a:lnSpc>
            </a:pPr>
            <a:r>
              <a:rPr lang="en-US" sz="4665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PROFUELLERS GET READY FOR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2722" y="6538614"/>
            <a:ext cx="8623762" cy="51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300" i="1">
                <a:solidFill>
                  <a:srgbClr val="EEEEEC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Discover! Innovate! Transform! The AI Way!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1463" y="7805707"/>
            <a:ext cx="9187376" cy="1047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600">
                <a:solidFill>
                  <a:srgbClr val="EEEEE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Agentic -Arena is an innovative initiative aimed to identifying and prioritizing AI impactful use cases that align with strategic objectives.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535400" y="9562644"/>
            <a:ext cx="3175312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600"/>
              </a:lnSpc>
              <a:spcBef>
                <a:spcPct val="0"/>
              </a:spcBef>
            </a:pPr>
            <a:r>
              <a:rPr lang="en-US" sz="2600" i="1" u="none" strike="noStrike" dirty="0">
                <a:solidFill>
                  <a:srgbClr val="EEEEEC"/>
                </a:solidFill>
                <a:latin typeface="Arimo Italics"/>
                <a:ea typeface="Arimo Italics"/>
                <a:cs typeface="Arimo Italics"/>
                <a:sym typeface="Arimo Italics"/>
              </a:rPr>
              <a:t> SOP.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463395" flipH="1">
            <a:off x="-1200863" y="-4604429"/>
            <a:ext cx="20689726" cy="19495858"/>
          </a:xfrm>
          <a:custGeom>
            <a:avLst/>
            <a:gdLst/>
            <a:ahLst/>
            <a:cxnLst/>
            <a:rect l="l" t="t" r="r" b="b"/>
            <a:pathLst>
              <a:path w="20689726" h="19495858">
                <a:moveTo>
                  <a:pt x="6465919" y="19495858"/>
                </a:moveTo>
                <a:lnTo>
                  <a:pt x="20689726" y="8000892"/>
                </a:lnTo>
                <a:lnTo>
                  <a:pt x="14223807" y="0"/>
                </a:lnTo>
                <a:lnTo>
                  <a:pt x="0" y="11494966"/>
                </a:lnTo>
                <a:lnTo>
                  <a:pt x="6465919" y="19495858"/>
                </a:lnTo>
                <a:close/>
              </a:path>
            </a:pathLst>
          </a:custGeom>
          <a:blipFill>
            <a:blip r:embed="rId2"/>
            <a:stretch>
              <a:fillRect l="-4483" r="-369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8513717">
            <a:off x="-3296559" y="1324000"/>
            <a:ext cx="11740171" cy="10886340"/>
          </a:xfrm>
          <a:custGeom>
            <a:avLst/>
            <a:gdLst/>
            <a:ahLst/>
            <a:cxnLst/>
            <a:rect l="l" t="t" r="r" b="b"/>
            <a:pathLst>
              <a:path w="11740171" h="10886340">
                <a:moveTo>
                  <a:pt x="0" y="0"/>
                </a:moveTo>
                <a:lnTo>
                  <a:pt x="11740170" y="0"/>
                </a:lnTo>
                <a:lnTo>
                  <a:pt x="11740170" y="10886340"/>
                </a:lnTo>
                <a:lnTo>
                  <a:pt x="0" y="1088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4636" y="2112729"/>
            <a:ext cx="5811503" cy="6061542"/>
          </a:xfrm>
          <a:custGeom>
            <a:avLst/>
            <a:gdLst/>
            <a:ahLst/>
            <a:cxnLst/>
            <a:rect l="l" t="t" r="r" b="b"/>
            <a:pathLst>
              <a:path w="5811503" h="6061542">
                <a:moveTo>
                  <a:pt x="0" y="0"/>
                </a:moveTo>
                <a:lnTo>
                  <a:pt x="5811503" y="0"/>
                </a:lnTo>
                <a:lnTo>
                  <a:pt x="5811503" y="6061542"/>
                </a:lnTo>
                <a:lnTo>
                  <a:pt x="0" y="60615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400000" flipV="1">
            <a:off x="2956852" y="6991105"/>
            <a:ext cx="4029852" cy="798643"/>
          </a:xfrm>
          <a:custGeom>
            <a:avLst/>
            <a:gdLst/>
            <a:ahLst/>
            <a:cxnLst/>
            <a:rect l="l" t="t" r="r" b="b"/>
            <a:pathLst>
              <a:path w="4029852" h="798643">
                <a:moveTo>
                  <a:pt x="0" y="798643"/>
                </a:moveTo>
                <a:lnTo>
                  <a:pt x="4029852" y="798643"/>
                </a:lnTo>
                <a:lnTo>
                  <a:pt x="4029852" y="0"/>
                </a:lnTo>
                <a:lnTo>
                  <a:pt x="0" y="0"/>
                </a:lnTo>
                <a:lnTo>
                  <a:pt x="0" y="798643"/>
                </a:lnTo>
                <a:close/>
              </a:path>
            </a:pathLst>
          </a:custGeom>
          <a:blipFill>
            <a:blip r:embed="rId5">
              <a:alphaModFix amt="5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 rot="-9278497">
            <a:off x="10451951" y="3721633"/>
            <a:ext cx="10178180" cy="1017818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1967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9278497">
            <a:off x="12286055" y="5508827"/>
            <a:ext cx="6657413" cy="665741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0800000" flipV="1">
            <a:off x="4682729" y="5151555"/>
            <a:ext cx="5725382" cy="1134667"/>
          </a:xfrm>
          <a:custGeom>
            <a:avLst/>
            <a:gdLst/>
            <a:ahLst/>
            <a:cxnLst/>
            <a:rect l="l" t="t" r="r" b="b"/>
            <a:pathLst>
              <a:path w="5725382" h="1134667">
                <a:moveTo>
                  <a:pt x="0" y="1134666"/>
                </a:moveTo>
                <a:lnTo>
                  <a:pt x="5725382" y="1134666"/>
                </a:lnTo>
                <a:lnTo>
                  <a:pt x="5725382" y="0"/>
                </a:lnTo>
                <a:lnTo>
                  <a:pt x="0" y="0"/>
                </a:lnTo>
                <a:lnTo>
                  <a:pt x="0" y="1134666"/>
                </a:lnTo>
                <a:close/>
              </a:path>
            </a:pathLst>
          </a:custGeom>
          <a:blipFill>
            <a:blip r:embed="rId5">
              <a:alphaModFix amt="5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10800000" flipV="1">
            <a:off x="10674391" y="5134481"/>
            <a:ext cx="6776142" cy="1342908"/>
          </a:xfrm>
          <a:custGeom>
            <a:avLst/>
            <a:gdLst/>
            <a:ahLst/>
            <a:cxnLst/>
            <a:rect l="l" t="t" r="r" b="b"/>
            <a:pathLst>
              <a:path w="6776142" h="1342908">
                <a:moveTo>
                  <a:pt x="0" y="1342908"/>
                </a:moveTo>
                <a:lnTo>
                  <a:pt x="6776142" y="1342908"/>
                </a:lnTo>
                <a:lnTo>
                  <a:pt x="6776142" y="0"/>
                </a:lnTo>
                <a:lnTo>
                  <a:pt x="0" y="0"/>
                </a:lnTo>
                <a:lnTo>
                  <a:pt x="0" y="1342908"/>
                </a:lnTo>
                <a:close/>
              </a:path>
            </a:pathLst>
          </a:custGeom>
          <a:blipFill>
            <a:blip r:embed="rId5">
              <a:alphaModFix amt="5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4899303" y="5438720"/>
            <a:ext cx="5965666" cy="3819580"/>
            <a:chOff x="0" y="0"/>
            <a:chExt cx="2245493" cy="1437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45493" cy="1437700"/>
            </a:xfrm>
            <a:custGeom>
              <a:avLst/>
              <a:gdLst/>
              <a:ahLst/>
              <a:cxnLst/>
              <a:rect l="l" t="t" r="r" b="b"/>
              <a:pathLst>
                <a:path w="2245493" h="1437700">
                  <a:moveTo>
                    <a:pt x="66185" y="0"/>
                  </a:moveTo>
                  <a:lnTo>
                    <a:pt x="2179307" y="0"/>
                  </a:lnTo>
                  <a:cubicBezTo>
                    <a:pt x="2196861" y="0"/>
                    <a:pt x="2213695" y="6973"/>
                    <a:pt x="2226108" y="19385"/>
                  </a:cubicBezTo>
                  <a:cubicBezTo>
                    <a:pt x="2238520" y="31797"/>
                    <a:pt x="2245493" y="48632"/>
                    <a:pt x="2245493" y="66185"/>
                  </a:cubicBezTo>
                  <a:lnTo>
                    <a:pt x="2245493" y="1371515"/>
                  </a:lnTo>
                  <a:cubicBezTo>
                    <a:pt x="2245493" y="1389068"/>
                    <a:pt x="2238520" y="1405903"/>
                    <a:pt x="2226108" y="1418315"/>
                  </a:cubicBezTo>
                  <a:cubicBezTo>
                    <a:pt x="2213695" y="1430727"/>
                    <a:pt x="2196861" y="1437700"/>
                    <a:pt x="2179307" y="1437700"/>
                  </a:cubicBezTo>
                  <a:lnTo>
                    <a:pt x="66185" y="1437700"/>
                  </a:lnTo>
                  <a:cubicBezTo>
                    <a:pt x="48632" y="1437700"/>
                    <a:pt x="31797" y="1430727"/>
                    <a:pt x="19385" y="1418315"/>
                  </a:cubicBezTo>
                  <a:cubicBezTo>
                    <a:pt x="6973" y="1405903"/>
                    <a:pt x="0" y="1389068"/>
                    <a:pt x="0" y="1371515"/>
                  </a:cubicBezTo>
                  <a:lnTo>
                    <a:pt x="0" y="66185"/>
                  </a:lnTo>
                  <a:cubicBezTo>
                    <a:pt x="0" y="48632"/>
                    <a:pt x="6973" y="31797"/>
                    <a:pt x="19385" y="19385"/>
                  </a:cubicBezTo>
                  <a:cubicBezTo>
                    <a:pt x="31797" y="6973"/>
                    <a:pt x="48632" y="0"/>
                    <a:pt x="6618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C55CD1">
                      <a:alpha val="100000"/>
                    </a:srgbClr>
                  </a:gs>
                  <a:gs pos="100000">
                    <a:srgbClr val="923ACD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85725"/>
              <a:ext cx="2245493" cy="135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249307" y="5438720"/>
            <a:ext cx="6105937" cy="3819580"/>
            <a:chOff x="0" y="0"/>
            <a:chExt cx="2298291" cy="14377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98291" cy="1437700"/>
            </a:xfrm>
            <a:custGeom>
              <a:avLst/>
              <a:gdLst/>
              <a:ahLst/>
              <a:cxnLst/>
              <a:rect l="l" t="t" r="r" b="b"/>
              <a:pathLst>
                <a:path w="2298291" h="1437700">
                  <a:moveTo>
                    <a:pt x="64665" y="0"/>
                  </a:moveTo>
                  <a:lnTo>
                    <a:pt x="2233626" y="0"/>
                  </a:lnTo>
                  <a:cubicBezTo>
                    <a:pt x="2250776" y="0"/>
                    <a:pt x="2267224" y="6813"/>
                    <a:pt x="2279351" y="18940"/>
                  </a:cubicBezTo>
                  <a:cubicBezTo>
                    <a:pt x="2291478" y="31067"/>
                    <a:pt x="2298291" y="47514"/>
                    <a:pt x="2298291" y="64665"/>
                  </a:cubicBezTo>
                  <a:lnTo>
                    <a:pt x="2298291" y="1373035"/>
                  </a:lnTo>
                  <a:cubicBezTo>
                    <a:pt x="2298291" y="1390186"/>
                    <a:pt x="2291478" y="1406633"/>
                    <a:pt x="2279351" y="1418760"/>
                  </a:cubicBezTo>
                  <a:cubicBezTo>
                    <a:pt x="2267224" y="1430887"/>
                    <a:pt x="2250776" y="1437700"/>
                    <a:pt x="2233626" y="1437700"/>
                  </a:cubicBezTo>
                  <a:lnTo>
                    <a:pt x="64665" y="1437700"/>
                  </a:lnTo>
                  <a:cubicBezTo>
                    <a:pt x="47514" y="1437700"/>
                    <a:pt x="31067" y="1430887"/>
                    <a:pt x="18940" y="1418760"/>
                  </a:cubicBezTo>
                  <a:cubicBezTo>
                    <a:pt x="6813" y="1406633"/>
                    <a:pt x="0" y="1390186"/>
                    <a:pt x="0" y="1373035"/>
                  </a:cubicBezTo>
                  <a:lnTo>
                    <a:pt x="0" y="64665"/>
                  </a:lnTo>
                  <a:cubicBezTo>
                    <a:pt x="0" y="47514"/>
                    <a:pt x="6813" y="31067"/>
                    <a:pt x="18940" y="18940"/>
                  </a:cubicBezTo>
                  <a:cubicBezTo>
                    <a:pt x="31067" y="6813"/>
                    <a:pt x="47514" y="0"/>
                    <a:pt x="646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85725"/>
              <a:ext cx="2298291" cy="135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10557952">
            <a:off x="3118251" y="-5525186"/>
            <a:ext cx="17280731" cy="10305599"/>
          </a:xfrm>
          <a:custGeom>
            <a:avLst/>
            <a:gdLst/>
            <a:ahLst/>
            <a:cxnLst/>
            <a:rect l="l" t="t" r="r" b="b"/>
            <a:pathLst>
              <a:path w="17280731" h="10305599">
                <a:moveTo>
                  <a:pt x="0" y="0"/>
                </a:moveTo>
                <a:lnTo>
                  <a:pt x="17280730" y="0"/>
                </a:lnTo>
                <a:lnTo>
                  <a:pt x="17280730" y="10305599"/>
                </a:lnTo>
                <a:lnTo>
                  <a:pt x="0" y="103055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6550374" y="997937"/>
            <a:ext cx="12247187" cy="2653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89"/>
              </a:lnSpc>
            </a:pPr>
            <a:r>
              <a:rPr lang="en-US" sz="8965" b="1" spc="-3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Purpose &amp; Strategic Alignment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71100" y="5815460"/>
            <a:ext cx="437534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spc="-167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758616" y="5815460"/>
            <a:ext cx="437534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b="1" spc="-16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this matters: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71100" y="7138645"/>
            <a:ext cx="5037011" cy="1841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2199" spc="-50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To identify and prioritize innovative Agentic AI use cases from Profueller’s that drive business value, client impact, and advance KPIs through Agentic AI augmentation.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19230" y="6889115"/>
            <a:ext cx="5527992" cy="205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7" lvl="1" indent="-215899" algn="l">
              <a:lnSpc>
                <a:spcPts val="2719"/>
              </a:lnSpc>
              <a:buFont typeface="Arial"/>
              <a:buChar char="•"/>
            </a:pPr>
            <a:r>
              <a:rPr lang="en-US" sz="1999" spc="-4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Accelerate internal and clients AI adoption</a:t>
            </a:r>
          </a:p>
          <a:p>
            <a:pPr marL="431797" lvl="1" indent="-215899" algn="l">
              <a:lnSpc>
                <a:spcPts val="2719"/>
              </a:lnSpc>
              <a:buFont typeface="Arial"/>
              <a:buChar char="•"/>
            </a:pPr>
            <a:r>
              <a:rPr lang="en-US" sz="1999" spc="-4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Build a repository of actionable, revenue-generating Agentic AI use cases</a:t>
            </a:r>
          </a:p>
          <a:p>
            <a:pPr marL="431797" lvl="1" indent="-215899" algn="l">
              <a:lnSpc>
                <a:spcPts val="2719"/>
              </a:lnSpc>
              <a:buFont typeface="Arial"/>
              <a:buChar char="•"/>
            </a:pPr>
            <a:r>
              <a:rPr lang="en-US" sz="1999" spc="-4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Enable teams to support client Agentic AI journeys effectively</a:t>
            </a:r>
          </a:p>
          <a:p>
            <a:pPr algn="l">
              <a:lnSpc>
                <a:spcPts val="2719"/>
              </a:lnSpc>
            </a:pPr>
            <a:endParaRPr lang="en-US" sz="1999" spc="-45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26" name="AutoShape 26"/>
          <p:cNvSpPr/>
          <p:nvPr/>
        </p:nvSpPr>
        <p:spPr>
          <a:xfrm flipV="1">
            <a:off x="5343791" y="6767170"/>
            <a:ext cx="5064320" cy="0"/>
          </a:xfrm>
          <a:prstGeom prst="line">
            <a:avLst/>
          </a:prstGeom>
          <a:ln w="19050" cap="flat">
            <a:solidFill>
              <a:srgbClr val="0E063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 flipV="1">
            <a:off x="11731308" y="6767170"/>
            <a:ext cx="5064320" cy="0"/>
          </a:xfrm>
          <a:prstGeom prst="line">
            <a:avLst/>
          </a:prstGeom>
          <a:ln w="19050" cap="flat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9278497">
            <a:off x="13587780" y="5089383"/>
            <a:ext cx="9966661" cy="996666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365"/>
                  </a:srgbClr>
                </a:gs>
                <a:gs pos="25000">
                  <a:srgbClr val="FFFFFF">
                    <a:alpha val="1950"/>
                  </a:srgbClr>
                </a:gs>
                <a:gs pos="50000">
                  <a:srgbClr val="FFFFFF">
                    <a:alpha val="1300"/>
                  </a:srgbClr>
                </a:gs>
                <a:gs pos="75000">
                  <a:srgbClr val="FFFFFF">
                    <a:alpha val="1950"/>
                  </a:srgbClr>
                </a:gs>
                <a:gs pos="100000">
                  <a:srgbClr val="FFFFFF">
                    <a:alpha val="13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1967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9278497">
            <a:off x="15438586" y="6668025"/>
            <a:ext cx="6254675" cy="625467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365"/>
                  </a:srgbClr>
                </a:gs>
                <a:gs pos="25000">
                  <a:srgbClr val="FFFFFF">
                    <a:alpha val="1950"/>
                  </a:srgbClr>
                </a:gs>
                <a:gs pos="50000">
                  <a:srgbClr val="FFFFFF">
                    <a:alpha val="1300"/>
                  </a:srgbClr>
                </a:gs>
                <a:gs pos="75000">
                  <a:srgbClr val="FFFFFF">
                    <a:alpha val="1950"/>
                  </a:srgbClr>
                </a:gs>
                <a:gs pos="100000">
                  <a:srgbClr val="FFFFFF">
                    <a:alpha val="13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52400"/>
              <a:ext cx="660400" cy="584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015114">
            <a:off x="-3626588" y="-2384214"/>
            <a:ext cx="17280731" cy="10305599"/>
          </a:xfrm>
          <a:custGeom>
            <a:avLst/>
            <a:gdLst/>
            <a:ahLst/>
            <a:cxnLst/>
            <a:rect l="l" t="t" r="r" b="b"/>
            <a:pathLst>
              <a:path w="17280731" h="10305599">
                <a:moveTo>
                  <a:pt x="0" y="0"/>
                </a:moveTo>
                <a:lnTo>
                  <a:pt x="17280731" y="0"/>
                </a:lnTo>
                <a:lnTo>
                  <a:pt x="17280731" y="10305599"/>
                </a:lnTo>
                <a:lnTo>
                  <a:pt x="0" y="103055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6085882" y="2500714"/>
            <a:ext cx="12202118" cy="9829116"/>
            <a:chOff x="0" y="0"/>
            <a:chExt cx="4592909" cy="36997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92910" cy="3699706"/>
            </a:xfrm>
            <a:custGeom>
              <a:avLst/>
              <a:gdLst/>
              <a:ahLst/>
              <a:cxnLst/>
              <a:rect l="l" t="t" r="r" b="b"/>
              <a:pathLst>
                <a:path w="4592910" h="3699706">
                  <a:moveTo>
                    <a:pt x="32358" y="0"/>
                  </a:moveTo>
                  <a:lnTo>
                    <a:pt x="4560551" y="0"/>
                  </a:lnTo>
                  <a:cubicBezTo>
                    <a:pt x="4578422" y="0"/>
                    <a:pt x="4592910" y="14487"/>
                    <a:pt x="4592910" y="32358"/>
                  </a:cubicBezTo>
                  <a:lnTo>
                    <a:pt x="4592910" y="3667347"/>
                  </a:lnTo>
                  <a:cubicBezTo>
                    <a:pt x="4592910" y="3685218"/>
                    <a:pt x="4578422" y="3699706"/>
                    <a:pt x="4560551" y="3699706"/>
                  </a:cubicBezTo>
                  <a:lnTo>
                    <a:pt x="32358" y="3699706"/>
                  </a:lnTo>
                  <a:cubicBezTo>
                    <a:pt x="14487" y="3699706"/>
                    <a:pt x="0" y="3685218"/>
                    <a:pt x="0" y="3667347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6200"/>
              <a:ext cx="4592909" cy="3623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429669" y="3081648"/>
            <a:ext cx="228733" cy="22873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52400"/>
              <a:ext cx="660400" cy="584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18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730118" y="3081648"/>
            <a:ext cx="228733" cy="22873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152400"/>
              <a:ext cx="660400" cy="584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18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9278497">
            <a:off x="-5803234" y="-4205483"/>
            <a:ext cx="9966661" cy="996666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365"/>
                  </a:srgbClr>
                </a:gs>
                <a:gs pos="25000">
                  <a:srgbClr val="FFFFFF">
                    <a:alpha val="1950"/>
                  </a:srgbClr>
                </a:gs>
                <a:gs pos="50000">
                  <a:srgbClr val="FFFFFF">
                    <a:alpha val="1300"/>
                  </a:srgbClr>
                </a:gs>
                <a:gs pos="75000">
                  <a:srgbClr val="FFFFFF">
                    <a:alpha val="1950"/>
                  </a:srgbClr>
                </a:gs>
                <a:gs pos="100000">
                  <a:srgbClr val="FFFFFF">
                    <a:alpha val="13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1967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9278497">
            <a:off x="-2997112" y="-1545956"/>
            <a:ext cx="5213104" cy="5213104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365"/>
                  </a:srgbClr>
                </a:gs>
                <a:gs pos="25000">
                  <a:srgbClr val="FFFFFF">
                    <a:alpha val="1950"/>
                  </a:srgbClr>
                </a:gs>
                <a:gs pos="50000">
                  <a:srgbClr val="FFFFFF">
                    <a:alpha val="1300"/>
                  </a:srgbClr>
                </a:gs>
                <a:gs pos="75000">
                  <a:srgbClr val="FFFFFF">
                    <a:alpha val="1950"/>
                  </a:srgbClr>
                </a:gs>
                <a:gs pos="100000">
                  <a:srgbClr val="FFFFFF">
                    <a:alpha val="13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152400"/>
              <a:ext cx="660400" cy="584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030567" y="3081648"/>
            <a:ext cx="228733" cy="228733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152400"/>
              <a:ext cx="660400" cy="584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18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36008" y="2768585"/>
            <a:ext cx="5581513" cy="2670896"/>
            <a:chOff x="0" y="0"/>
            <a:chExt cx="2100896" cy="100533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00896" cy="1005332"/>
            </a:xfrm>
            <a:custGeom>
              <a:avLst/>
              <a:gdLst/>
              <a:ahLst/>
              <a:cxnLst/>
              <a:rect l="l" t="t" r="r" b="b"/>
              <a:pathLst>
                <a:path w="2100896" h="1005332">
                  <a:moveTo>
                    <a:pt x="70740" y="0"/>
                  </a:moveTo>
                  <a:lnTo>
                    <a:pt x="2030156" y="0"/>
                  </a:lnTo>
                  <a:cubicBezTo>
                    <a:pt x="2048918" y="0"/>
                    <a:pt x="2066911" y="7453"/>
                    <a:pt x="2080177" y="20719"/>
                  </a:cubicBezTo>
                  <a:cubicBezTo>
                    <a:pt x="2093443" y="33986"/>
                    <a:pt x="2100896" y="51979"/>
                    <a:pt x="2100896" y="70740"/>
                  </a:cubicBezTo>
                  <a:lnTo>
                    <a:pt x="2100896" y="934592"/>
                  </a:lnTo>
                  <a:cubicBezTo>
                    <a:pt x="2100896" y="953354"/>
                    <a:pt x="2093443" y="971347"/>
                    <a:pt x="2080177" y="984613"/>
                  </a:cubicBezTo>
                  <a:cubicBezTo>
                    <a:pt x="2066911" y="997879"/>
                    <a:pt x="2048918" y="1005332"/>
                    <a:pt x="2030156" y="1005332"/>
                  </a:cubicBezTo>
                  <a:lnTo>
                    <a:pt x="70740" y="1005332"/>
                  </a:lnTo>
                  <a:cubicBezTo>
                    <a:pt x="51979" y="1005332"/>
                    <a:pt x="33986" y="997879"/>
                    <a:pt x="20719" y="984613"/>
                  </a:cubicBezTo>
                  <a:cubicBezTo>
                    <a:pt x="7453" y="971347"/>
                    <a:pt x="0" y="953354"/>
                    <a:pt x="0" y="934592"/>
                  </a:cubicBezTo>
                  <a:lnTo>
                    <a:pt x="0" y="70740"/>
                  </a:lnTo>
                  <a:cubicBezTo>
                    <a:pt x="0" y="51979"/>
                    <a:pt x="7453" y="33986"/>
                    <a:pt x="20719" y="20719"/>
                  </a:cubicBezTo>
                  <a:cubicBezTo>
                    <a:pt x="33986" y="7453"/>
                    <a:pt x="51979" y="0"/>
                    <a:pt x="7074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76200"/>
              <a:ext cx="2100896" cy="929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04192" y="3272282"/>
            <a:ext cx="4645145" cy="1775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5"/>
              </a:lnSpc>
            </a:pPr>
            <a:r>
              <a:rPr lang="en-US" sz="2599" spc="-59" dirty="0">
                <a:solidFill>
                  <a:srgbClr val="0E0637"/>
                </a:solidFill>
                <a:latin typeface="Open Sauce"/>
                <a:ea typeface="Open Sauce"/>
                <a:cs typeface="Open Sauce"/>
                <a:sym typeface="Open Sauce"/>
              </a:rPr>
              <a:t>Agentic-Arena is a initiative designed to uncover impactful Agentic AI </a:t>
            </a:r>
            <a:r>
              <a:rPr lang="en-US" sz="2599" spc="-59" dirty="0" err="1">
                <a:solidFill>
                  <a:srgbClr val="0E0637"/>
                </a:solidFill>
                <a:latin typeface="Open Sauce"/>
                <a:ea typeface="Open Sauce"/>
                <a:cs typeface="Open Sauce"/>
                <a:sym typeface="Open Sauce"/>
              </a:rPr>
              <a:t>Usecase</a:t>
            </a:r>
            <a:r>
              <a:rPr lang="en-US" sz="2599" spc="-59" dirty="0">
                <a:solidFill>
                  <a:srgbClr val="0E0637"/>
                </a:solidFill>
                <a:latin typeface="Open Sauce"/>
                <a:ea typeface="Open Sauce"/>
                <a:cs typeface="Open Sauce"/>
                <a:sym typeface="Open Sauce"/>
              </a:rPr>
              <a:t>. Here's the structure: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31258" y="163936"/>
            <a:ext cx="11100158" cy="230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6"/>
              </a:lnSpc>
            </a:pPr>
            <a:r>
              <a:rPr lang="en-US" sz="7800" b="1" spc="-3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Agentic-Arena Structure Overview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D0C4EAD2-72E5-03D9-8F19-766D98732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787817"/>
              </p:ext>
            </p:extLst>
          </p:nvPr>
        </p:nvGraphicFramePr>
        <p:xfrm>
          <a:off x="6562561" y="3780844"/>
          <a:ext cx="11484668" cy="4675299"/>
        </p:xfrm>
        <a:graphic>
          <a:graphicData uri="http://schemas.openxmlformats.org/drawingml/2006/table">
            <a:tbl>
              <a:tblPr/>
              <a:tblGrid>
                <a:gridCol w="2871167">
                  <a:extLst>
                    <a:ext uri="{9D8B030D-6E8A-4147-A177-3AD203B41FA5}">
                      <a16:colId xmlns:a16="http://schemas.microsoft.com/office/drawing/2014/main" val="635514588"/>
                    </a:ext>
                  </a:extLst>
                </a:gridCol>
                <a:gridCol w="2871167">
                  <a:extLst>
                    <a:ext uri="{9D8B030D-6E8A-4147-A177-3AD203B41FA5}">
                      <a16:colId xmlns:a16="http://schemas.microsoft.com/office/drawing/2014/main" val="2581152132"/>
                    </a:ext>
                  </a:extLst>
                </a:gridCol>
                <a:gridCol w="2871167">
                  <a:extLst>
                    <a:ext uri="{9D8B030D-6E8A-4147-A177-3AD203B41FA5}">
                      <a16:colId xmlns:a16="http://schemas.microsoft.com/office/drawing/2014/main" val="824300142"/>
                    </a:ext>
                  </a:extLst>
                </a:gridCol>
                <a:gridCol w="2871167">
                  <a:extLst>
                    <a:ext uri="{9D8B030D-6E8A-4147-A177-3AD203B41FA5}">
                      <a16:colId xmlns:a16="http://schemas.microsoft.com/office/drawing/2014/main" val="1721375553"/>
                    </a:ext>
                  </a:extLst>
                </a:gridCol>
              </a:tblGrid>
              <a:tr h="9138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2E2F30"/>
                          </a:solidFill>
                          <a:effectLst/>
                        </a:rPr>
                        <a:t>Level</a:t>
                      </a:r>
                    </a:p>
                  </a:txBody>
                  <a:tcPr anchor="ctr">
                    <a:lnL w="42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2E2F30"/>
                          </a:solidFill>
                          <a:effectLst/>
                        </a:rPr>
                        <a:t>Activity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2E2F30"/>
                          </a:solidFill>
                          <a:effectLst/>
                        </a:rPr>
                        <a:t>Format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2E2F30"/>
                          </a:solidFill>
                          <a:effectLst/>
                        </a:rPr>
                        <a:t>Evaluation Panel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832985"/>
                  </a:ext>
                </a:extLst>
              </a:tr>
              <a:tr h="16901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rgbClr val="2E2F30"/>
                          </a:solidFill>
                          <a:effectLst/>
                        </a:rPr>
                        <a:t>Level 1</a:t>
                      </a:r>
                    </a:p>
                  </a:txBody>
                  <a:tcPr anchor="ctr">
                    <a:lnL w="42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2E2F30"/>
                          </a:solidFill>
                          <a:effectLst/>
                        </a:rPr>
                        <a:t>Use Case Submission: Click on the form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u="sng" dirty="0">
                          <a:solidFill>
                            <a:srgbClr val="A02EA3"/>
                          </a:solidFill>
                          <a:effectLst/>
                          <a:hlinkClick r:id="rId4"/>
                        </a:rPr>
                        <a:t>https://forms.office.com/r/rg9d31jtMK</a:t>
                      </a:r>
                      <a:endParaRPr lang="en-US" sz="2000" u="sng" dirty="0">
                        <a:solidFill>
                          <a:srgbClr val="A02EA3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2E2F30"/>
                          </a:solidFill>
                          <a:effectLst/>
                        </a:rPr>
                        <a:t>Ramkumar </a:t>
                      </a:r>
                      <a:r>
                        <a:rPr lang="en-US" sz="2000" dirty="0" err="1">
                          <a:solidFill>
                            <a:srgbClr val="2E2F30"/>
                          </a:solidFill>
                          <a:effectLst/>
                        </a:rPr>
                        <a:t>Pattabiraman</a:t>
                      </a:r>
                      <a:r>
                        <a:rPr lang="en-US" sz="2000" dirty="0">
                          <a:solidFill>
                            <a:srgbClr val="2E2F30"/>
                          </a:solidFill>
                          <a:effectLst/>
                        </a:rPr>
                        <a:t>, Tanuja Pereira &amp; Team will shortlist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927205"/>
                  </a:ext>
                </a:extLst>
              </a:tr>
              <a:tr h="20713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rgbClr val="2E2F30"/>
                          </a:solidFill>
                          <a:effectLst/>
                        </a:rPr>
                        <a:t>Level 2 (Final)</a:t>
                      </a:r>
                    </a:p>
                  </a:txBody>
                  <a:tcPr anchor="ctr">
                    <a:lnL w="42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2E2F30"/>
                          </a:solidFill>
                          <a:effectLst/>
                        </a:rPr>
                        <a:t>Shortlisted use cases from Level 1 will progress to Level 2 for Final Presentation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2E2F30"/>
                          </a:solidFill>
                          <a:effectLst/>
                        </a:rPr>
                        <a:t>Hybrid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2E2F30"/>
                          </a:solidFill>
                          <a:effectLst/>
                        </a:rPr>
                        <a:t>Panel of Leaders</a:t>
                      </a:r>
                    </a:p>
                  </a:txBody>
                  <a:tcPr anchor="ctr">
                    <a:lnL w="42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395574"/>
                  </a:ext>
                </a:extLst>
              </a:tr>
            </a:tbl>
          </a:graphicData>
        </a:graphic>
      </p:graphicFrame>
      <p:sp>
        <p:nvSpPr>
          <p:cNvPr id="36" name="Rectangle 1">
            <a:hlinkClick r:id="rId4"/>
            <a:extLst>
              <a:ext uri="{FF2B5EF4-FFF2-40B4-BE49-F238E27FC236}">
                <a16:creationId xmlns:a16="http://schemas.microsoft.com/office/drawing/2014/main" id="{B2DB7762-4505-A956-A2AB-5D1EB297257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383407" y="3930320"/>
            <a:ext cx="25521480" cy="6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881498" y="4669917"/>
            <a:ext cx="12119983" cy="5617083"/>
            <a:chOff x="0" y="0"/>
            <a:chExt cx="4561967" cy="21142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1967" cy="2114296"/>
            </a:xfrm>
            <a:custGeom>
              <a:avLst/>
              <a:gdLst/>
              <a:ahLst/>
              <a:cxnLst/>
              <a:rect l="l" t="t" r="r" b="b"/>
              <a:pathLst>
                <a:path w="4561967" h="2114296">
                  <a:moveTo>
                    <a:pt x="4561967" y="0"/>
                  </a:moveTo>
                  <a:lnTo>
                    <a:pt x="4561967" y="2114296"/>
                  </a:lnTo>
                  <a:lnTo>
                    <a:pt x="0" y="2114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64AA">
                <a:alpha val="40784"/>
              </a:srgbClr>
            </a:solidFill>
            <a:ln w="19050" cap="sq">
              <a:solidFill>
                <a:srgbClr val="FFFFFF">
                  <a:alpha val="4078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6200"/>
              <a:ext cx="4561967" cy="2038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962704">
            <a:off x="-2861938" y="2325630"/>
            <a:ext cx="17280731" cy="10305599"/>
          </a:xfrm>
          <a:custGeom>
            <a:avLst/>
            <a:gdLst/>
            <a:ahLst/>
            <a:cxnLst/>
            <a:rect l="l" t="t" r="r" b="b"/>
            <a:pathLst>
              <a:path w="17280731" h="10305599">
                <a:moveTo>
                  <a:pt x="0" y="0"/>
                </a:moveTo>
                <a:lnTo>
                  <a:pt x="17280731" y="0"/>
                </a:lnTo>
                <a:lnTo>
                  <a:pt x="17280731" y="10305600"/>
                </a:lnTo>
                <a:lnTo>
                  <a:pt x="0" y="10305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09575" y="1401453"/>
            <a:ext cx="8955897" cy="688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1"/>
              </a:lnSpc>
            </a:pPr>
            <a:r>
              <a:rPr lang="en-US" sz="4029" b="1" spc="-18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Each use case should include: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9575" y="2413532"/>
            <a:ext cx="13476196" cy="2324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74"/>
              </a:lnSpc>
            </a:pPr>
            <a:r>
              <a:rPr lang="en-US" sz="4900" spc="-274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Each leader can submit up to three use cases on a single slide per </a:t>
            </a:r>
            <a:r>
              <a:rPr lang="en-US" sz="4900" spc="-274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usecase</a:t>
            </a:r>
            <a:r>
              <a:rPr lang="en-US" sz="4900" spc="-274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. The standardized template includes: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12592" y="5919707"/>
            <a:ext cx="11581867" cy="3925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4969" lvl="1" indent="-382485" algn="l">
              <a:lnSpc>
                <a:spcPts val="4464"/>
              </a:lnSpc>
              <a:buFont typeface="Arial"/>
              <a:buChar char="•"/>
            </a:pPr>
            <a:r>
              <a:rPr lang="en-US" sz="3543" spc="-19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Problem Statement &amp; Business Context (UseCase)</a:t>
            </a:r>
          </a:p>
          <a:p>
            <a:pPr marL="764969" lvl="1" indent="-382485" algn="l">
              <a:lnSpc>
                <a:spcPts val="4464"/>
              </a:lnSpc>
              <a:buFont typeface="Arial"/>
              <a:buChar char="•"/>
            </a:pPr>
            <a:r>
              <a:rPr lang="en-US" sz="3543" spc="-19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Proposed AI Solution</a:t>
            </a:r>
          </a:p>
          <a:p>
            <a:pPr marL="764969" lvl="1" indent="-382485" algn="l">
              <a:lnSpc>
                <a:spcPts val="4464"/>
              </a:lnSpc>
              <a:buFont typeface="Arial"/>
              <a:buChar char="•"/>
            </a:pPr>
            <a:r>
              <a:rPr lang="en-US" sz="3543" spc="-19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Implementation Phase (Idea, Pilot, or Deployed)</a:t>
            </a:r>
          </a:p>
          <a:p>
            <a:pPr marL="764969" lvl="1" indent="-382485" algn="l">
              <a:lnSpc>
                <a:spcPts val="4464"/>
              </a:lnSpc>
              <a:buFont typeface="Arial"/>
              <a:buChar char="•"/>
            </a:pPr>
            <a:r>
              <a:rPr lang="en-US" sz="3543" spc="-19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ROI/Revenue Potential</a:t>
            </a:r>
          </a:p>
          <a:p>
            <a:pPr marL="764969" lvl="1" indent="-382485" algn="l">
              <a:lnSpc>
                <a:spcPts val="4464"/>
              </a:lnSpc>
              <a:buFont typeface="Arial"/>
              <a:buChar char="•"/>
            </a:pPr>
            <a:r>
              <a:rPr lang="en-US" sz="3543" spc="-19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Client Impact &amp; Efficiency Gains</a:t>
            </a:r>
          </a:p>
          <a:p>
            <a:pPr marL="764969" lvl="1" indent="-382485" algn="l">
              <a:lnSpc>
                <a:spcPts val="4464"/>
              </a:lnSpc>
              <a:buFont typeface="Arial"/>
              <a:buChar char="•"/>
            </a:pPr>
            <a:r>
              <a:rPr lang="en-US" sz="3543" spc="-19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Challenges (if any)</a:t>
            </a:r>
          </a:p>
          <a:p>
            <a:pPr algn="l">
              <a:lnSpc>
                <a:spcPts val="4464"/>
              </a:lnSpc>
            </a:pPr>
            <a:endParaRPr lang="en-US" sz="3543" spc="-198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0" name="Freeform 10"/>
          <p:cNvSpPr/>
          <p:nvPr/>
        </p:nvSpPr>
        <p:spPr>
          <a:xfrm rot="-8513717">
            <a:off x="12041712" y="-959430"/>
            <a:ext cx="7316103" cy="6784023"/>
          </a:xfrm>
          <a:custGeom>
            <a:avLst/>
            <a:gdLst/>
            <a:ahLst/>
            <a:cxnLst/>
            <a:rect l="l" t="t" r="r" b="b"/>
            <a:pathLst>
              <a:path w="7316103" h="6784023">
                <a:moveTo>
                  <a:pt x="0" y="0"/>
                </a:moveTo>
                <a:lnTo>
                  <a:pt x="7316103" y="0"/>
                </a:lnTo>
                <a:lnTo>
                  <a:pt x="7316103" y="6784023"/>
                </a:lnTo>
                <a:lnTo>
                  <a:pt x="0" y="6784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625608" y="714640"/>
            <a:ext cx="3294153" cy="3435883"/>
          </a:xfrm>
          <a:custGeom>
            <a:avLst/>
            <a:gdLst/>
            <a:ahLst/>
            <a:cxnLst/>
            <a:rect l="l" t="t" r="r" b="b"/>
            <a:pathLst>
              <a:path w="3294153" h="3435883">
                <a:moveTo>
                  <a:pt x="0" y="0"/>
                </a:moveTo>
                <a:lnTo>
                  <a:pt x="3294152" y="0"/>
                </a:lnTo>
                <a:lnTo>
                  <a:pt x="3294152" y="3435883"/>
                </a:lnTo>
                <a:lnTo>
                  <a:pt x="0" y="34358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244</Words>
  <Application>Microsoft Office PowerPoint</Application>
  <PresentationFormat>Custom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Times New Roman MT Italics</vt:lpstr>
      <vt:lpstr>Times New Roman MT</vt:lpstr>
      <vt:lpstr>Calibri</vt:lpstr>
      <vt:lpstr>Arial</vt:lpstr>
      <vt:lpstr>Open Sauce</vt:lpstr>
      <vt:lpstr>Open Sauce Bold</vt:lpstr>
      <vt:lpstr>Times New Roman MT Bold</vt:lpstr>
      <vt:lpstr>Open Sauce Light</vt:lpstr>
      <vt:lpstr>Arimo Italics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PROFUELLERS GET READY FOR AI-ARENA</dc:title>
  <cp:lastModifiedBy>Sneha Marbal</cp:lastModifiedBy>
  <cp:revision>3</cp:revision>
  <dcterms:created xsi:type="dcterms:W3CDTF">2006-08-16T00:00:00Z</dcterms:created>
  <dcterms:modified xsi:type="dcterms:W3CDTF">2026-06-12T12:32:09Z</dcterms:modified>
  <dc:identifier>DAHEMgx5X5I</dc:identifier>
</cp:coreProperties>
</file>