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napToObjects="1">
      <p:cViewPr varScale="1">
        <p:scale>
          <a:sx n="99" d="100"/>
          <a:sy n="99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REGULITH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8B4FF"/>
                </a:solidFill>
                <a:latin typeface="Segoe UI"/>
              </a:defRPr>
            </a:pPr>
            <a:r>
              <a:t>Delivery Compliance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Segoe UI"/>
              </a:defRPr>
            </a:pPr>
            <a:r>
              <a:t>"One commit. Six compliance domains. Zero surprises."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Agentic Arena 2026  |  Autonomous Security, Compliance &amp; Audit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single code commit can silently violate 6 compliance domains simultaneously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6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SOX ITGC Controls — Unapproved change to a financial system</a:t>
            </a:r>
          </a:p>
          <a:p>
            <a:pPr>
              <a:spcAft>
                <a:spcPts val="816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Application Security — Unresolved vulnerability deployed to production</a:t>
            </a:r>
          </a:p>
          <a:p>
            <a:pPr>
              <a:spcAft>
                <a:spcPts val="816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TILA / RESPA Regulations — Incorrect loan rate calculation shipped</a:t>
            </a:r>
          </a:p>
          <a:p>
            <a:pPr>
              <a:spcAft>
                <a:spcPts val="816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Client Contractual SLAs — 48-hour remediation window missed ($50K penalty)</a:t>
            </a:r>
          </a:p>
          <a:p>
            <a:pPr>
              <a:spcAft>
                <a:spcPts val="816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Fair Lending (ECOA) — Pricing logic changed without disparate impact test</a:t>
            </a:r>
          </a:p>
          <a:p>
            <a:pPr>
              <a:spcAft>
                <a:spcPts val="816"/>
              </a:spcAft>
              <a:defRPr sz="1700">
                <a:solidFill>
                  <a:srgbClr val="CCCCCC"/>
                </a:solidFill>
                <a:latin typeface="Segoe UI"/>
              </a:defRPr>
            </a:pPr>
            <a:r>
              <a:t>GDPR / DORA — Data crossing regional boundaries without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800"/>
                </a:solidFill>
                <a:latin typeface="Segoe UI"/>
              </a:defRPr>
            </a:pPr>
            <a:r>
              <a:t>These domains live in separate tools, managed by separate teams, on separate audit cycles.</a:t>
            </a:r>
            <a:br/>
            <a:r>
              <a:t>Nobody connects the dots. Violations are discovered months later during audits.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336"/>
                </a:solidFill>
                <a:latin typeface="Segoe UI"/>
              </a:defRPr>
            </a:pPr>
            <a:r>
              <a:t>Annual risk exposure: $5M - $10M per organization in regulated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IS REGULITH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A multi-agent AI platform that maintains a live compliance</a:t>
            </a:r>
          </a:p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digital twin for each client engagement.</a:t>
            </a:r>
          </a:p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When any event occurs (code commit, infrastructure change,</a:t>
            </a:r>
          </a:p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new regulation, personnel change) — Regulith propagates the</a:t>
            </a:r>
          </a:p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compliance impact across ALL domains simultaneously:</a:t>
            </a:r>
          </a:p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863"/>
              </a:spcAft>
              <a:defRPr sz="1800">
                <a:solidFill>
                  <a:srgbClr val="CCCCCC"/>
                </a:solidFill>
                <a:latin typeface="Segoe UI"/>
              </a:defRPr>
            </a:pPr>
            <a:r>
              <a:t>SOX  +  Security  +  Regulatory  +  Contractual  +  Fair Lending  +  Privacy  + 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>
                <a:solidFill>
                  <a:srgbClr val="4CAF50"/>
                </a:solidFill>
                <a:latin typeface="Segoe UI"/>
              </a:defRPr>
            </a:pPr>
            <a:r>
              <a:t>Generates autonomous audit evidence in real-time</a:t>
            </a:r>
          </a:p>
          <a:p>
            <a:pPr>
              <a:spcAft>
                <a:spcPts val="768"/>
              </a:spcAft>
              <a:defRPr sz="1600">
                <a:solidFill>
                  <a:srgbClr val="4CAF50"/>
                </a:solidFill>
                <a:latin typeface="Segoe UI"/>
              </a:defRPr>
            </a:pPr>
            <a:r>
              <a:t>Detects silent compliance drift before auditors find it</a:t>
            </a:r>
          </a:p>
          <a:p>
            <a:pPr>
              <a:spcAft>
                <a:spcPts val="768"/>
              </a:spcAft>
              <a:defRPr sz="1600">
                <a:solidFill>
                  <a:srgbClr val="4CAF50"/>
                </a:solidFill>
                <a:latin typeface="Segoe UI"/>
              </a:defRPr>
            </a:pPr>
            <a:r>
              <a:t>Parses client contracts into machine-readable obligations</a:t>
            </a:r>
          </a:p>
          <a:p>
            <a:pPr>
              <a:spcAft>
                <a:spcPts val="768"/>
              </a:spcAft>
              <a:defRPr sz="1600">
                <a:solidFill>
                  <a:srgbClr val="4CAF50"/>
                </a:solidFill>
                <a:latin typeface="Segoe UI"/>
              </a:defRPr>
            </a:pPr>
            <a:r>
              <a:t>Simulates compliance impact before deployment (predictive, not reactive)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188720"/>
            <a:ext cx="8503920" cy="8229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ORCHESTRATOR — Master Agent (Plans, Prioritizes, Delegates, Remembers)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1737360" cy="10972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B4FF"/>
                </a:solidFill>
                <a:latin typeface="Segoe UI"/>
              </a:defRPr>
            </a:pPr>
            <a:r>
              <a:t>Digital</a:t>
            </a:r>
            <a:br/>
            <a:r>
              <a:t>Twin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77440"/>
            <a:ext cx="1737360" cy="10972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B4FF"/>
                </a:solidFill>
                <a:latin typeface="Segoe UI"/>
              </a:defRPr>
            </a:pPr>
            <a:r>
              <a:t>Chain</a:t>
            </a:r>
            <a:br/>
            <a:r>
              <a:t>Reactor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377440"/>
            <a:ext cx="1737360" cy="10972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B4FF"/>
                </a:solidFill>
                <a:latin typeface="Segoe UI"/>
              </a:defRPr>
            </a:pPr>
            <a:r>
              <a:t>Audit</a:t>
            </a:r>
            <a:br/>
            <a:r>
              <a:t>Narrator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377440"/>
            <a:ext cx="1737360" cy="10972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B4FF"/>
                </a:solidFill>
                <a:latin typeface="Segoe UI"/>
              </a:defRPr>
            </a:pPr>
            <a:r>
              <a:t>Drift</a:t>
            </a:r>
            <a:br/>
            <a:r>
              <a:t>Detector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377440"/>
            <a:ext cx="1737360" cy="10972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0" y="246888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B4FF"/>
                </a:solidFill>
                <a:latin typeface="Segoe UI"/>
              </a:defRPr>
            </a:pPr>
            <a:r>
              <a:t>Obligation</a:t>
            </a:r>
            <a:br/>
            <a:r>
              <a:t>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931920"/>
            <a:ext cx="9418320" cy="82296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4023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INTEGRATION LAYER: Snyk | Checkmarx | Wiz | Qualys | ServiceNow | Jira | Git | AWS | Splunk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Regulith does not replace any existing tool.</a:t>
            </a:r>
            <a:br/>
            <a:r>
              <a:t>It sits above them as the orchestration, reasoning, and action layer</a:t>
            </a:r>
            <a:br/>
            <a:r>
              <a:t>that makes them all work together intelligently.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CROSS-DOMAIN CHAIN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Segoe UI"/>
              </a:defRPr>
            </a:pPr>
            <a:r>
              <a:t>One code commit triggers impact analysis across all compliance domains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6400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Segoe UI"/>
              </a:defRPr>
            </a:pPr>
            <a:r>
              <a:t>EVENT: Developer modifies ARM rate calculation logic (commit a3f7b2c)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SOX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Change management documentation required (ITGC-CM-01, ITGC-CM-02)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0632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SAST scan shows 1 High finding (PCI-DSS 6.5 violation)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REGULATORY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5661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TILA Regulation Z — APR validation to 1/8% accuracy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FAIR LENDING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0690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Pricing logic change requires disparate impact testing (ECOA)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719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CONTRACTUAL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57199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Client notification required per MSA Section 7.4 (48h before deploy)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63FF"/>
                </a:solidFill>
                <a:latin typeface="Segoe UI"/>
              </a:defRPr>
            </a:pPr>
            <a: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0749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Full evidence trail must be generated for SOX-critical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No product on the market performs cross-domain causal compliance reasoning. They all operate in silos.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PRE-DEPLOYMENT COMPLIANCE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Segoe UI"/>
              </a:defRPr>
            </a:pPr>
            <a:r>
              <a:t>Know the compliance impact BEFORE you ship — not months later during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515600" cy="38404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COMPLIANCE SIMULATION RESULT</a:t>
            </a:r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If you deploy this change, Client A's compliance score drops from 94% to 87%</a:t>
            </a:r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Blocking Issues:</a:t>
            </a:r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 Unresolved SAST finding — SOX ITGC-SD-01 violation</a:t>
            </a:r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 Client notification not yet sent — MSA breach risk, $50K penalty</a:t>
            </a:r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 APR validation not executed — TILA regulatory risk</a:t>
            </a:r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Estimated financial risk if deployed now: $250,000</a:t>
            </a:r>
          </a:p>
          <a:p>
            <a:pPr>
              <a:spcAft>
                <a:spcPts val="72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Recommendation: Hold deployment. Resolution time: ~6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Every existing tool is reactive. Regulith is the only platform that simulates consequences before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AUTONOMOUS AUDIT NARRATIVE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Segoe UI"/>
              </a:defRPr>
            </a:pPr>
            <a:r>
              <a:rPr dirty="0"/>
              <a:t>Real-time evidence generation from development activity — not manual reconstruction months later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34747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AUTO-GENERATED AUDIT NARRATIVE (Sample)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endParaRPr/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On June 28, 2026, PR #4521 was created by Developer A to modify the ARM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rate calculation module (SOX-critical system).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Business justification: CFPB Bulletin 2026-03 (Jira: MORT-1542).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SAST scan by Checkmarx: 0 Critical, 1 High finding — resolved in 4 hours.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Code reviewed by Developer B (segregation of duties: SATISFIED).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Deployed to production June 29 with change ticket CHG-3302.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Dual-approved by Release Manager C.</a:t>
            </a:r>
          </a:p>
          <a:p>
            <a:pPr>
              <a:spcAft>
                <a:spcPts val="672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Controls satisfied: ITGC-CM-01, ITGC-CM-02, ITGC-SD-01, PCI-DSS 6.5.1.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Segoe UI"/>
              </a:defRPr>
            </a:pPr>
            <a:r>
              <a:t>Audit prep time reduced by 70%. EY/Deloitte get pre-built evidence packages</a:t>
            </a:r>
            <a:br/>
            <a:r>
              <a:t>instead of spending weeks reconstructing timelines from Jira, Git, and ServiceNow.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MARKET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Segoe UI"/>
              </a:defRPr>
            </a:pPr>
            <a:r>
              <a:t>Verified against 30+ products — this capability does not exist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Segoe UI"/>
              </a:defRPr>
            </a:pPr>
            <a: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Segoe UI"/>
              </a:defRPr>
            </a:pPr>
            <a:r>
              <a:t>What They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Segoe UI"/>
              </a:defRPr>
            </a:pPr>
            <a:r>
              <a:t>What They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Vanta / Drata / Scrut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Evidence collection for one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20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4336"/>
                </a:solidFill>
                <a:latin typeface="Segoe UI"/>
              </a:defRPr>
            </a:pPr>
            <a:r>
              <a:t>No multi-client, no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ServiceNow GRC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87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Risk register, control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871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4336"/>
                </a:solidFill>
                <a:latin typeface="Segoe UI"/>
              </a:defRPr>
            </a:pPr>
            <a:r>
              <a:t>Static, no causal chain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540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Panther / CrowdStrike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540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SOC automation, incident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0540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4336"/>
                </a:solidFill>
                <a:latin typeface="Segoe UI"/>
              </a:defRPr>
            </a:pPr>
            <a:r>
              <a:t>Security-only, no SOX/regulatory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210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Checkmarx / Snyk / Wiz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210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Detect vulnerabilities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6210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4336"/>
                </a:solidFill>
                <a:latin typeface="Segoe UI"/>
              </a:defRPr>
            </a:pPr>
            <a:r>
              <a:t>No business impact, no audit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879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Fieldguide / AuditBoard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87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Auditor workflow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1879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4336"/>
                </a:solidFill>
                <a:latin typeface="Segoe UI"/>
              </a:defRPr>
            </a:pPr>
            <a:r>
              <a:t>Don't generate evidence autonomously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Regology / Wolters Kluwer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754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Track regulatory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754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4336"/>
                </a:solidFill>
                <a:latin typeface="Segoe UI"/>
              </a:defRPr>
            </a:pPr>
            <a:r>
              <a:t>Don't simulate per-client blast radius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Regulith sits ABOVE all these tools as the orchestration and reasoning layer.</a:t>
            </a:r>
            <a:br/>
            <a:r>
              <a:t>It does not replace them — it makes them work together intelligently.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60320" cy="20116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Segoe UI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Audit preparation</a:t>
            </a:r>
            <a:br/>
            <a:r>
              <a:t>time reduced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280160"/>
            <a:ext cx="2560320" cy="20116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463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Segoe UI"/>
              </a:defRPr>
            </a:pPr>
            <a:r>
              <a:t>$2M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SLA breach penalties</a:t>
            </a:r>
            <a:br/>
            <a:r>
              <a:t>avoided per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2560320" cy="20116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Material weakness</a:t>
            </a:r>
            <a:br/>
            <a:r>
              <a:t>findings prevented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280160"/>
            <a:ext cx="2560320" cy="201168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1463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  <a:latin typeface="Segoe UI"/>
              </a:defRPr>
            </a:pPr>
            <a:r>
              <a:t>175%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Year 1 ROI</a:t>
            </a:r>
            <a:br/>
            <a:r>
              <a:t>(conservative)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Developer compliance overhead reduced by 20-30%</a:t>
            </a:r>
          </a:p>
          <a:p>
            <a:pPr>
              <a:spcAft>
                <a:spcPts val="768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New revenue stream: premium managed service at $20K-$50K/month per client</a:t>
            </a:r>
          </a:p>
          <a:p>
            <a:pPr>
              <a:spcAft>
                <a:spcPts val="768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Competitive differentiation: no competitor in IT services has this capability</a:t>
            </a:r>
          </a:p>
          <a:p>
            <a:pPr>
              <a:spcAft>
                <a:spcPts val="768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Client retention: real-time compliance visibility creates trust and switching costs</a:t>
            </a:r>
          </a:p>
          <a:p>
            <a:pPr>
              <a:spcAft>
                <a:spcPts val="768"/>
              </a:spcAft>
              <a:defRPr sz="1600">
                <a:solidFill>
                  <a:srgbClr val="CCCCCC"/>
                </a:solidFill>
                <a:latin typeface="Segoe UI"/>
              </a:defRPr>
            </a:pPr>
            <a:r>
              <a:t>Audit relationship transformed: auditors become collaborators, not adversaries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FIVE AUTONOMOUS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Digital Twin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Builds and maintains live compliance score per engagement from all tool feeds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515600" cy="9144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Chain Reactor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Propagates any event across all compliance domains with causal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Audit Narrator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3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Generates continuous, audit-ready evidence narratives from dev activity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Drift Detector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006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Finds silent compliance degradation: expired certs, orphan access, config drift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8B4FF"/>
                </a:solidFill>
                <a:latin typeface="Segoe UI"/>
              </a:defRPr>
            </a:pPr>
            <a:r>
              <a:t>Obligation Parser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Extracts machine-readable rules from contracts using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 STACK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Segoe UI"/>
              </a:defRPr>
            </a:pPr>
            <a:r>
              <a:t>Phase 1 (8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Core Twin + Chain Reactor, 3 tool integrations, 1 pilot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Segoe UI"/>
              </a:defRPr>
            </a:pPr>
            <a:r>
              <a:t>Phase 2 (12 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Obligation Parser + Audit Narrator, Jira/GitHub/AWS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Segoe UI"/>
              </a:defRPr>
            </a:pPr>
            <a:r>
              <a:t>Phase 3 (16 weeks)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Multi-client command center, Drift Detection, client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Segoe UI"/>
              </a:defRPr>
            </a:pPr>
            <a:r>
              <a:t>Phase 4 (20 weeks)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Full multi-tenant platform, API marketplace, white-label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B4FF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Agent Framework: LangGraph (stateful multi-agent workflows)</a:t>
            </a:r>
          </a:p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LLM: Claude / GPT-4o (contract parsing, narrative generation)</a:t>
            </a:r>
          </a:p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Graph DB: Neo4j (obligation-control-tool relationships)</a:t>
            </a:r>
          </a:p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Vector DB: Pinecone (regulatory text embeddings)</a:t>
            </a:r>
          </a:p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Integrations: Snyk, Checkmarx, Wiz, ServiceNow, Jira, GitHub APIs</a:t>
            </a:r>
          </a:p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Cloud: AWS multi-account (per-client isolation)</a:t>
            </a:r>
          </a:p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Dashboard: React + D3.js (real-time visualization)</a:t>
            </a:r>
          </a:p>
          <a:p>
            <a:pPr>
              <a:spcAft>
                <a:spcPts val="624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Observability: LangSmith (agent decision tracing)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THIS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Does it exist in the market?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NO — verified against 30+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Is it a real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YES — $5-10M annual risk in regulated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Is it agentic?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YES — 5 autonomous agents with reasoning and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Is it feasible?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834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YES — working prototype built, standard API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Does it generate revenue?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383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YES — premium service + platform licensing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Is it defensible?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931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YES — multi-client data, contract corpus, domain expertise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solidFill>
            <a:srgbClr val="16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101498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Every IT services company has </a:t>
            </a:r>
            <a:r>
              <a:rPr dirty="0" err="1"/>
              <a:t>Checkmarx</a:t>
            </a:r>
            <a:r>
              <a:rPr dirty="0"/>
              <a:t>. Every one has ServiceNow.</a:t>
            </a:r>
            <a:br>
              <a:rPr dirty="0"/>
            </a:br>
            <a:r>
              <a:rPr dirty="0"/>
              <a:t>Every one has Wiz. None of them have a brain that connects all these tools,</a:t>
            </a:r>
            <a:br>
              <a:rPr dirty="0"/>
            </a:br>
            <a:r>
              <a:rPr dirty="0"/>
              <a:t>reasons across compliance domains, and tells you — before you deploy —</a:t>
            </a:r>
            <a:br>
              <a:rPr dirty="0"/>
            </a:br>
            <a:r>
              <a:rPr dirty="0"/>
              <a:t>that this one code commit will violate three different clients' contracts</a:t>
            </a:r>
            <a:br>
              <a:rPr dirty="0"/>
            </a:br>
            <a:r>
              <a:rPr dirty="0"/>
              <a:t>in three different ways.</a:t>
            </a:r>
            <a:br>
              <a:rPr dirty="0"/>
            </a:br>
            <a:br>
              <a:rPr dirty="0"/>
            </a:br>
            <a:r>
              <a:rPr dirty="0"/>
              <a:t>That brain is </a:t>
            </a:r>
            <a:r>
              <a:rPr dirty="0" err="1"/>
              <a:t>Regulith</a:t>
            </a:r>
            <a:r>
              <a:rPr dirty="0"/>
              <a:t> 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REGULITH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8B4FF"/>
                </a:solidFill>
                <a:latin typeface="Segoe UI"/>
              </a:defRPr>
            </a:pPr>
            <a:r>
              <a:t>Delivery Compliance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Segoe UI"/>
              </a:defRPr>
            </a:pPr>
            <a:r>
              <a:t>"One commit. Six compliance domains. Zero surprises."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Agentic Arena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1297</Words>
  <Application>Microsoft Macintosh PowerPoint</Application>
  <PresentationFormat>Widescreen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Israa Tasleem</cp:lastModifiedBy>
  <cp:revision>2</cp:revision>
  <dcterms:created xsi:type="dcterms:W3CDTF">2013-01-27T09:14:16Z</dcterms:created>
  <dcterms:modified xsi:type="dcterms:W3CDTF">2026-06-28T17:43:28Z</dcterms:modified>
  <cp:category/>
</cp:coreProperties>
</file>