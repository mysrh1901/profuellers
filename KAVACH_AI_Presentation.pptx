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18CF8"/>
                </a:solidFill>
                <a:latin typeface="Segoe UI"/>
              </a:defRPr>
            </a:pPr>
            <a:r>
              <a:t>Hexaware Profuellers  |  Agentic Arena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F8FAFC"/>
                </a:solidFill>
                <a:latin typeface="Segoe UI"/>
              </a:defRPr>
            </a:pPr>
            <a:r>
              <a:t>KAVACH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A5B4FC"/>
                </a:solidFill>
                <a:latin typeface="Segoe UI"/>
              </a:defRPr>
            </a:pPr>
            <a:r>
              <a:t>Knowledge-driven Audit, Vulnerability Analysis &amp; Compliance Health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  <a:latin typeface="Segoe UI"/>
              </a:defRPr>
            </a:pPr>
            <a:r>
              <a:t>"One commit. Six domains. Zero breaches."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94A3B8"/>
                </a:solidFill>
                <a:latin typeface="Segoe UI"/>
              </a:defRPr>
            </a:pPr>
            <a:r>
              <a:t>Multi-Agent AI   |   Custom Fine-Tuned LLM   |   Graph RAG   |   Real-Time Compliance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01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18CF8"/>
                </a:solidFill>
                <a:latin typeface="Segoe UI"/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8FAFC"/>
                </a:solidFill>
                <a:latin typeface="Segoe UI"/>
              </a:defRPr>
            </a:pPr>
            <a:r>
              <a:t>One Code Commit Can Simultaneously Violate 6 Compliance Domains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3474720" cy="4114800"/>
          </a:xfrm>
          <a:prstGeom prst="roundRect">
            <a:avLst/>
          </a:prstGeom>
          <a:solidFill>
            <a:srgbClr val="161B30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94560"/>
            <a:ext cx="3108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F87171"/>
                </a:solidFill>
                <a:latin typeface="Segoe UI"/>
              </a:defRPr>
            </a:pPr>
            <a:r>
              <a:t>Today's Reality</a:t>
            </a:r>
          </a:p>
          <a:p>
            <a:pPr>
              <a:spcAft>
                <a:spcPts val="600"/>
              </a:spcAft>
              <a:defRPr sz="600" b="0">
                <a:solidFill>
                  <a:srgbClr val="94A3B8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300" b="0">
                <a:solidFill>
                  <a:srgbClr val="94A3B8"/>
                </a:solidFill>
                <a:latin typeface="Segoe UI"/>
              </a:defRPr>
            </a:pPr>
            <a:r>
              <a:t>SOX team finds issues in annual audit</a:t>
            </a:r>
          </a:p>
          <a:p>
            <a:pPr>
              <a:spcAft>
                <a:spcPts val="600"/>
              </a:spcAft>
              <a:defRPr sz="1300" b="0">
                <a:solidFill>
                  <a:srgbClr val="94A3B8"/>
                </a:solidFill>
                <a:latin typeface="Segoe UI"/>
              </a:defRPr>
            </a:pPr>
            <a:r>
              <a:t>Security team scans weekly</a:t>
            </a:r>
          </a:p>
          <a:p>
            <a:pPr>
              <a:spcAft>
                <a:spcPts val="600"/>
              </a:spcAft>
              <a:defRPr sz="1300" b="0">
                <a:solidFill>
                  <a:srgbClr val="94A3B8"/>
                </a:solidFill>
                <a:latin typeface="Segoe UI"/>
              </a:defRPr>
            </a:pPr>
            <a:r>
              <a:t>Legal reviews contracts quarterly</a:t>
            </a:r>
          </a:p>
          <a:p>
            <a:pPr>
              <a:spcAft>
                <a:spcPts val="600"/>
              </a:spcAft>
              <a:defRPr sz="1300" b="0">
                <a:solidFill>
                  <a:srgbClr val="94A3B8"/>
                </a:solidFill>
                <a:latin typeface="Segoe UI"/>
              </a:defRPr>
            </a:pPr>
            <a:r>
              <a:t>Fair lending tested semi-annually</a:t>
            </a:r>
          </a:p>
          <a:p>
            <a:pPr>
              <a:spcAft>
                <a:spcPts val="600"/>
              </a:spcAft>
              <a:defRPr sz="600" b="0">
                <a:solidFill>
                  <a:srgbClr val="94A3B8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400" b="1">
                <a:solidFill>
                  <a:srgbClr val="F87171"/>
                </a:solidFill>
                <a:latin typeface="Segoe UI"/>
              </a:defRPr>
            </a:pPr>
            <a:r>
              <a:t>Violations found MONTHS later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2011680"/>
            <a:ext cx="3474720" cy="4114800"/>
          </a:xfrm>
          <a:prstGeom prst="roundRect">
            <a:avLst/>
          </a:prstGeom>
          <a:solidFill>
            <a:srgbClr val="161B30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0" y="2194560"/>
            <a:ext cx="3108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FBBF24"/>
                </a:solidFill>
                <a:latin typeface="Segoe UI"/>
              </a:defRPr>
            </a:pPr>
            <a:r>
              <a:t>The Gap</a:t>
            </a:r>
          </a:p>
          <a:p>
            <a:pPr>
              <a:spcAft>
                <a:spcPts val="600"/>
              </a:spcAft>
              <a:defRPr sz="600" b="0">
                <a:solidFill>
                  <a:srgbClr val="94A3B8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300" b="0">
                <a:solidFill>
                  <a:srgbClr val="94A3B8"/>
                </a:solidFill>
                <a:latin typeface="Segoe UI"/>
              </a:defRPr>
            </a:pPr>
            <a:r>
              <a:t>Different teams, different tools</a:t>
            </a:r>
          </a:p>
          <a:p>
            <a:pPr>
              <a:spcAft>
                <a:spcPts val="600"/>
              </a:spcAft>
              <a:defRPr sz="1300" b="0">
                <a:solidFill>
                  <a:srgbClr val="94A3B8"/>
                </a:solidFill>
                <a:latin typeface="Segoe UI"/>
              </a:defRPr>
            </a:pPr>
            <a:r>
              <a:t>No cross-domain reasoning</a:t>
            </a:r>
          </a:p>
          <a:p>
            <a:pPr>
              <a:spcAft>
                <a:spcPts val="600"/>
              </a:spcAft>
              <a:defRPr sz="1300" b="0">
                <a:solidFill>
                  <a:srgbClr val="94A3B8"/>
                </a:solidFill>
                <a:latin typeface="Segoe UI"/>
              </a:defRPr>
            </a:pPr>
            <a:r>
              <a:t>No per-client context</a:t>
            </a:r>
          </a:p>
          <a:p>
            <a:pPr>
              <a:spcAft>
                <a:spcPts val="600"/>
              </a:spcAft>
              <a:defRPr sz="1300" b="0">
                <a:solidFill>
                  <a:srgbClr val="94A3B8"/>
                </a:solidFill>
                <a:latin typeface="Segoe UI"/>
              </a:defRPr>
            </a:pPr>
            <a:r>
              <a:t>Reactive, not predictive</a:t>
            </a:r>
          </a:p>
          <a:p>
            <a:pPr>
              <a:spcAft>
                <a:spcPts val="600"/>
              </a:spcAft>
              <a:defRPr sz="600" b="0">
                <a:solidFill>
                  <a:srgbClr val="94A3B8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400" b="1">
                <a:solidFill>
                  <a:srgbClr val="FBBF24"/>
                </a:solidFill>
                <a:latin typeface="Segoe UI"/>
              </a:defRPr>
            </a:pPr>
            <a:r>
              <a:t>$50K+ per missed violation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2011680"/>
            <a:ext cx="3474720" cy="4114800"/>
          </a:xfrm>
          <a:prstGeom prst="roundRect">
            <a:avLst/>
          </a:prstGeom>
          <a:solidFill>
            <a:srgbClr val="161B30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0" y="2194560"/>
            <a:ext cx="3108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34D399"/>
                </a:solidFill>
                <a:latin typeface="Segoe UI"/>
              </a:defRPr>
            </a:pPr>
            <a:r>
              <a:t>KAVACH AI Solution</a:t>
            </a:r>
          </a:p>
          <a:p>
            <a:pPr>
              <a:spcAft>
                <a:spcPts val="600"/>
              </a:spcAft>
              <a:defRPr sz="600" b="0">
                <a:solidFill>
                  <a:srgbClr val="94A3B8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300" b="0">
                <a:solidFill>
                  <a:srgbClr val="94A3B8"/>
                </a:solidFill>
                <a:latin typeface="Segoe UI"/>
              </a:defRPr>
            </a:pPr>
            <a:r>
              <a:t>AI reasons across ALL domains simultaneously</a:t>
            </a:r>
          </a:p>
          <a:p>
            <a:pPr>
              <a:spcAft>
                <a:spcPts val="600"/>
              </a:spcAft>
              <a:defRPr sz="1300" b="0">
                <a:solidFill>
                  <a:srgbClr val="94A3B8"/>
                </a:solidFill>
                <a:latin typeface="Segoe UI"/>
              </a:defRPr>
            </a:pPr>
            <a:r>
              <a:t>Per-engagement compliance twin</a:t>
            </a:r>
          </a:p>
          <a:p>
            <a:pPr>
              <a:spcAft>
                <a:spcPts val="600"/>
              </a:spcAft>
              <a:defRPr sz="1300" b="0">
                <a:solidFill>
                  <a:srgbClr val="94A3B8"/>
                </a:solidFill>
                <a:latin typeface="Segoe UI"/>
              </a:defRPr>
            </a:pPr>
            <a:r>
              <a:t>Predicts impact BEFORE deploy</a:t>
            </a:r>
          </a:p>
          <a:p>
            <a:pPr>
              <a:spcAft>
                <a:spcPts val="600"/>
              </a:spcAft>
              <a:defRPr sz="1300" b="0">
                <a:solidFill>
                  <a:srgbClr val="94A3B8"/>
                </a:solidFill>
                <a:latin typeface="Segoe UI"/>
              </a:defRPr>
            </a:pPr>
            <a:r>
              <a:t>Generates audit evidence in real-time</a:t>
            </a:r>
          </a:p>
          <a:p>
            <a:pPr>
              <a:spcAft>
                <a:spcPts val="600"/>
              </a:spcAft>
              <a:defRPr sz="600" b="0">
                <a:solidFill>
                  <a:srgbClr val="94A3B8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400" b="1">
                <a:solidFill>
                  <a:srgbClr val="34D399"/>
                </a:solidFill>
                <a:latin typeface="Segoe UI"/>
              </a:defRPr>
            </a:pPr>
            <a:r>
              <a:t>Zero compliance surprises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02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18CF8"/>
                </a:solidFill>
                <a:latin typeface="Segoe UI"/>
              </a:defRPr>
            </a:pPr>
            <a:r>
              <a:t>PLATFORM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8FAFC"/>
                </a:solidFill>
                <a:latin typeface="Segoe UI"/>
              </a:defRPr>
            </a:pPr>
            <a:r>
              <a:t>End-to-End Agentic AI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Every event flows: Perceive -&gt; Reason -&gt; Decide -&gt; Act. No human in the loop.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1920240"/>
            <a:ext cx="9418320" cy="640080"/>
          </a:xfrm>
          <a:prstGeom prst="roundRect">
            <a:avLst/>
          </a:prstGeom>
          <a:solidFill>
            <a:srgbClr val="161B30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99644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18CF8"/>
                </a:solidFill>
                <a:latin typeface="Segoe UI"/>
              </a:defRPr>
            </a:pPr>
            <a:r>
              <a:t>PERCEIVE:  Event 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30124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Git  |  Jenkins  |  Jira  |  AWS Config  |  File Watcher  |  SAST Tools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25603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18CF8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2651760"/>
            <a:ext cx="9418320" cy="640080"/>
          </a:xfrm>
          <a:prstGeom prst="roundRect">
            <a:avLst/>
          </a:prstGeom>
          <a:solidFill>
            <a:srgbClr val="161B30"/>
          </a:solidFill>
          <a:ln w="190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45920" y="272796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5B4FC"/>
                </a:solidFill>
                <a:latin typeface="Segoe UI"/>
              </a:defRPr>
            </a:pPr>
            <a:r>
              <a:t>ActiveMQ Message Queue - "compliance-events"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303276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Unified event bus: all sources flow into a single queue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32918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18CF8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371600" y="3383280"/>
            <a:ext cx="9418320" cy="640080"/>
          </a:xfrm>
          <a:prstGeom prst="roundRect">
            <a:avLst/>
          </a:prstGeom>
          <a:solidFill>
            <a:srgbClr val="161B30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45920" y="345948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4D399"/>
                </a:solidFill>
                <a:latin typeface="Segoe UI"/>
              </a:defRPr>
            </a:pPr>
            <a:r>
              <a:t>REASON:  Agent Layer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376428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Digital Twin  &lt;-  Chain Reactor (central)  -&gt;  Drift Sentinel  |  Audit Narrator  &lt;-&gt;  Obligation Parser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402336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18CF8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71600" y="4480560"/>
            <a:ext cx="9418320" cy="640080"/>
          </a:xfrm>
          <a:prstGeom prst="roundRect">
            <a:avLst/>
          </a:prstGeom>
          <a:solidFill>
            <a:srgbClr val="161B30"/>
          </a:solidFill>
          <a:ln w="19050">
            <a:solidFill>
              <a:srgbClr val="A5B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45920" y="455676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5B4FC"/>
                </a:solidFill>
                <a:latin typeface="Segoe UI"/>
              </a:defRPr>
            </a:pPr>
            <a:r>
              <a:t>DECIDE:  Intelligence Layer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86156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KAVACH LLM (our model)  |  Knowledge Graph + GraphRAG  |  Policy Engine (26+ rules)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51206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18CF8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371600" y="5212080"/>
            <a:ext cx="9418320" cy="640080"/>
          </a:xfrm>
          <a:prstGeom prst="roundRect">
            <a:avLst/>
          </a:prstGeom>
          <a:solidFill>
            <a:srgbClr val="161B30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45920" y="528828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87171"/>
                </a:solidFill>
                <a:latin typeface="Segoe UI"/>
              </a:defRPr>
            </a:pPr>
            <a:r>
              <a:t>ACT:  Actions &amp; Outputs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20" y="559308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Deploy Gate (Block/Allow)  |  Audit Evidence (auto)  |  Dashboard  |  Alerts (Slack/Email)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612648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Tech: Spring Boot 3.4 | ActiveMQ | JGraphT | Llama 3.2 + QLoRA | Ollama | AWS Bedrock | H2 | Python + Java | Jenkins | Docker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03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18CF8"/>
                </a:solidFill>
                <a:latin typeface="Segoe UI"/>
              </a:defRPr>
            </a:pPr>
            <a:r>
              <a:t>CUSTOM LLM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8FAFC"/>
                </a:solidFill>
                <a:latin typeface="Segoe UI"/>
              </a:defRPr>
            </a:pPr>
            <a:r>
              <a:t>KAVACH Compliance LLM - Our Own Model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303520" cy="4572000"/>
          </a:xfrm>
          <a:prstGeom prst="roundRect">
            <a:avLst/>
          </a:prstGeom>
          <a:solidFill>
            <a:srgbClr val="161B30"/>
          </a:solidFill>
          <a:ln w="19050">
            <a:solidFill>
              <a:srgbClr val="A5B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600" b="1">
                <a:solidFill>
                  <a:srgbClr val="A5B4FC"/>
                </a:solidFill>
                <a:latin typeface="Segoe UI"/>
              </a:defRPr>
            </a:pPr>
            <a:r>
              <a:t>Fine-Tuning Pipeline - How We Built It</a:t>
            </a:r>
          </a:p>
          <a:p>
            <a:pPr>
              <a:spcAft>
                <a:spcPts val="30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</a:p>
          <a:p>
            <a:pPr>
              <a:spcAft>
                <a:spcPts val="300"/>
              </a:spcAft>
              <a:defRPr sz="1300" b="1">
                <a:solidFill>
                  <a:srgbClr val="A5B4FC"/>
                </a:solidFill>
                <a:latin typeface="Segoe UI"/>
              </a:defRPr>
            </a:pPr>
            <a:r>
              <a:t>Step 1: Collect training pairs</a:t>
            </a:r>
          </a:p>
          <a:p>
            <a:pPr>
              <a:spcAft>
                <a:spcPts val="300"/>
              </a:spcAft>
              <a:defRPr sz="1200" b="0">
                <a:solidFill>
                  <a:srgbClr val="94A3B8"/>
                </a:solidFill>
                <a:latin typeface="Segoe UI"/>
              </a:defRPr>
            </a:pPr>
            <a:r>
              <a:t>Each example = "here's code" -&gt; "here's the compliance violation"</a:t>
            </a:r>
          </a:p>
          <a:p>
            <a:pPr>
              <a:spcAft>
                <a:spcPts val="300"/>
              </a:spcAft>
              <a:defRPr sz="1200" b="0">
                <a:solidFill>
                  <a:srgbClr val="94A3B8"/>
                </a:solidFill>
                <a:latin typeface="Segoe UI"/>
              </a:defRPr>
            </a:pPr>
            <a:r>
              <a:t>Source: audit findings, Checkmarx reports, SOX evidence, MSA clauses</a:t>
            </a:r>
          </a:p>
          <a:p>
            <a:pPr>
              <a:spcAft>
                <a:spcPts val="300"/>
              </a:spcAft>
              <a:defRPr sz="1200" b="0">
                <a:solidFill>
                  <a:srgbClr val="94A3B8"/>
                </a:solidFill>
                <a:latin typeface="Segoe UI"/>
              </a:defRPr>
            </a:pPr>
            <a:r>
              <a:t>Volume: 500-1000 pairs (started with 15, expanding)</a:t>
            </a:r>
          </a:p>
          <a:p>
            <a:pPr>
              <a:spcAft>
                <a:spcPts val="300"/>
              </a:spcAft>
              <a:defRPr sz="600" b="0">
                <a:solidFill>
                  <a:srgbClr val="94A3B8"/>
                </a:solidFill>
                <a:latin typeface="Segoe UI"/>
              </a:defRPr>
            </a:pPr>
          </a:p>
          <a:p>
            <a:pPr>
              <a:spcAft>
                <a:spcPts val="300"/>
              </a:spcAft>
              <a:defRPr sz="1300" b="1">
                <a:solidFill>
                  <a:srgbClr val="A5B4FC"/>
                </a:solidFill>
                <a:latin typeface="Segoe UI"/>
              </a:defRPr>
            </a:pPr>
            <a:r>
              <a:t>Step 2: Freeze model, train small adapters (QLoRA)</a:t>
            </a:r>
          </a:p>
          <a:p>
            <a:pPr>
              <a:spcAft>
                <a:spcPts val="300"/>
              </a:spcAft>
              <a:defRPr sz="1200" b="0">
                <a:solidFill>
                  <a:srgbClr val="94A3B8"/>
                </a:solidFill>
                <a:latin typeface="Segoe UI"/>
              </a:defRPr>
            </a:pPr>
            <a:r>
              <a:t>Base model: Llama 3.2 (1.2B params) - frozen at 99.7%</a:t>
            </a:r>
          </a:p>
          <a:p>
            <a:pPr>
              <a:spcAft>
                <a:spcPts val="300"/>
              </a:spcAft>
              <a:defRPr sz="1200" b="0">
                <a:solidFill>
                  <a:srgbClr val="94A3B8"/>
                </a:solidFill>
                <a:latin typeface="Segoe UI"/>
              </a:defRPr>
            </a:pPr>
            <a:r>
              <a:t>Add 4M trainable adapter params on top</a:t>
            </a:r>
          </a:p>
          <a:p>
            <a:pPr>
              <a:spcAft>
                <a:spcPts val="300"/>
              </a:spcAft>
              <a:defRPr sz="1200" b="0">
                <a:solidFill>
                  <a:srgbClr val="94A3B8"/>
                </a:solidFill>
                <a:latin typeface="Segoe UI"/>
              </a:defRPr>
            </a:pPr>
            <a:r>
              <a:t>Train only adapters on our data (~2-6 hours, 1 GPU, ~$50-100)</a:t>
            </a:r>
          </a:p>
          <a:p>
            <a:pPr>
              <a:spcAft>
                <a:spcPts val="300"/>
              </a:spcAft>
              <a:defRPr sz="600" b="0">
                <a:solidFill>
                  <a:srgbClr val="94A3B8"/>
                </a:solidFill>
                <a:latin typeface="Segoe UI"/>
              </a:defRPr>
            </a:pPr>
          </a:p>
          <a:p>
            <a:pPr>
              <a:spcAft>
                <a:spcPts val="300"/>
              </a:spcAft>
              <a:defRPr sz="1300" b="1">
                <a:solidFill>
                  <a:srgbClr val="A5B4FC"/>
                </a:solidFill>
                <a:latin typeface="Segoe UI"/>
              </a:defRPr>
            </a:pPr>
            <a:r>
              <a:t>Step 3: Merge, export, deploy</a:t>
            </a:r>
          </a:p>
          <a:p>
            <a:pPr>
              <a:spcAft>
                <a:spcPts val="300"/>
              </a:spcAft>
              <a:defRPr sz="1200" b="0">
                <a:solidFill>
                  <a:srgbClr val="94A3B8"/>
                </a:solidFill>
                <a:latin typeface="Segoe UI"/>
              </a:defRPr>
            </a:pPr>
            <a:r>
              <a:t>Merge adapters -&gt; export to Ollama format</a:t>
            </a:r>
          </a:p>
          <a:p>
            <a:pPr>
              <a:spcAft>
                <a:spcPts val="300"/>
              </a:spcAft>
              <a:defRPr sz="1200" b="0">
                <a:solidFill>
                  <a:srgbClr val="34D399"/>
                </a:solidFill>
                <a:latin typeface="Segoe UI"/>
              </a:defRPr>
            </a:pPr>
            <a:r>
              <a:t>Result: kavach-compliance-v1 - runs on our infra</a:t>
            </a:r>
          </a:p>
          <a:p>
            <a:pPr>
              <a:spcAft>
                <a:spcPts val="300"/>
              </a:spcAft>
              <a:defRPr sz="1200" b="0">
                <a:solidFill>
                  <a:srgbClr val="34D399"/>
                </a:solidFill>
                <a:latin typeface="Segoe UI"/>
              </a:defRPr>
            </a:pPr>
            <a:r>
              <a:t>No client code sent to external APIs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737360"/>
            <a:ext cx="5303520" cy="4572000"/>
          </a:xfrm>
          <a:prstGeom prst="roundRect">
            <a:avLst/>
          </a:prstGeom>
          <a:solidFill>
            <a:srgbClr val="161B30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92024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600" b="1">
                <a:solidFill>
                  <a:srgbClr val="34D399"/>
                </a:solidFill>
                <a:latin typeface="Segoe UI"/>
              </a:defRPr>
            </a:pPr>
            <a:r>
              <a:t>Why "Our Own" - Not Just a Wrapper</a:t>
            </a:r>
          </a:p>
          <a:p>
            <a:pPr>
              <a:spcAft>
                <a:spcPts val="20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1200" b="1">
                <a:solidFill>
                  <a:srgbClr val="64748B"/>
                </a:solidFill>
                <a:latin typeface="Segoe UI"/>
              </a:defRPr>
            </a:pPr>
            <a:r>
              <a:t>Who sees client code?</a:t>
            </a:r>
          </a:p>
          <a:p>
            <a:pPr>
              <a:spcAft>
                <a:spcPts val="200"/>
              </a:spcAft>
              <a:defRPr sz="1200" b="0">
                <a:solidFill>
                  <a:srgbClr val="F87171"/>
                </a:solidFill>
                <a:latin typeface="Segoe UI"/>
              </a:defRPr>
            </a:pPr>
            <a:r>
              <a:t>  GPT/Claude: OpenAI / Anthropic</a:t>
            </a:r>
          </a:p>
          <a:p>
            <a:pPr>
              <a:spcAft>
                <a:spcPts val="200"/>
              </a:spcAft>
              <a:defRPr sz="1200" b="0">
                <a:solidFill>
                  <a:srgbClr val="34D399"/>
                </a:solidFill>
                <a:latin typeface="Segoe UI"/>
              </a:defRPr>
            </a:pPr>
            <a:r>
              <a:t>  KAVACH: Nobody (runs on our GPU)</a:t>
            </a:r>
          </a:p>
          <a:p>
            <a:pPr>
              <a:spcAft>
                <a:spcPts val="200"/>
              </a:spcAft>
              <a:defRPr sz="400" b="0">
                <a:solidFill>
                  <a:srgbClr val="94A3B8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1200" b="1">
                <a:solidFill>
                  <a:srgbClr val="64748B"/>
                </a:solidFill>
                <a:latin typeface="Segoe UI"/>
              </a:defRPr>
            </a:pPr>
            <a:r>
              <a:t>Cost @ 5K events/day?</a:t>
            </a:r>
          </a:p>
          <a:p>
            <a:pPr>
              <a:spcAft>
                <a:spcPts val="200"/>
              </a:spcAft>
              <a:defRPr sz="1200" b="0">
                <a:solidFill>
                  <a:srgbClr val="F87171"/>
                </a:solidFill>
                <a:latin typeface="Segoe UI"/>
              </a:defRPr>
            </a:pPr>
            <a:r>
              <a:t>  GPT/Claude: ~$6,000/month</a:t>
            </a:r>
          </a:p>
          <a:p>
            <a:pPr>
              <a:spcAft>
                <a:spcPts val="200"/>
              </a:spcAft>
              <a:defRPr sz="1200" b="0">
                <a:solidFill>
                  <a:srgbClr val="34D399"/>
                </a:solidFill>
                <a:latin typeface="Segoe UI"/>
              </a:defRPr>
            </a:pPr>
            <a:r>
              <a:t>  KAVACH: ~$1,000/month (1 GPU)</a:t>
            </a:r>
          </a:p>
          <a:p>
            <a:pPr>
              <a:spcAft>
                <a:spcPts val="200"/>
              </a:spcAft>
              <a:defRPr sz="400" b="0">
                <a:solidFill>
                  <a:srgbClr val="94A3B8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1200" b="1">
                <a:solidFill>
                  <a:srgbClr val="64748B"/>
                </a:solidFill>
                <a:latin typeface="Segoe UI"/>
              </a:defRPr>
            </a:pPr>
            <a:r>
              <a:t>Where does it learn?</a:t>
            </a:r>
          </a:p>
          <a:p>
            <a:pPr>
              <a:spcAft>
                <a:spcPts val="200"/>
              </a:spcAft>
              <a:defRPr sz="1200" b="0">
                <a:solidFill>
                  <a:srgbClr val="F87171"/>
                </a:solidFill>
                <a:latin typeface="Segoe UI"/>
              </a:defRPr>
            </a:pPr>
            <a:r>
              <a:t>  GPT/Claude: General internet data</a:t>
            </a:r>
          </a:p>
          <a:p>
            <a:pPr>
              <a:spcAft>
                <a:spcPts val="200"/>
              </a:spcAft>
              <a:defRPr sz="1200" b="0">
                <a:solidFill>
                  <a:srgbClr val="34D399"/>
                </a:solidFill>
                <a:latin typeface="Segoe UI"/>
              </a:defRPr>
            </a:pPr>
            <a:r>
              <a:t>  KAVACH: OUR audit findings &amp; controls</a:t>
            </a:r>
          </a:p>
          <a:p>
            <a:pPr>
              <a:spcAft>
                <a:spcPts val="200"/>
              </a:spcAft>
              <a:defRPr sz="400" b="0">
                <a:solidFill>
                  <a:srgbClr val="94A3B8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1200" b="1">
                <a:solidFill>
                  <a:srgbClr val="64748B"/>
                </a:solidFill>
                <a:latin typeface="Segoe UI"/>
              </a:defRPr>
            </a:pPr>
            <a:r>
              <a:t>Who owns the model?</a:t>
            </a:r>
          </a:p>
          <a:p>
            <a:pPr>
              <a:spcAft>
                <a:spcPts val="200"/>
              </a:spcAft>
              <a:defRPr sz="1200" b="0">
                <a:solidFill>
                  <a:srgbClr val="F87171"/>
                </a:solidFill>
                <a:latin typeface="Segoe UI"/>
              </a:defRPr>
            </a:pPr>
            <a:r>
              <a:t>  GPT/Claude: OpenAI / Anthropic</a:t>
            </a:r>
          </a:p>
          <a:p>
            <a:pPr>
              <a:spcAft>
                <a:spcPts val="200"/>
              </a:spcAft>
              <a:defRPr sz="1200" b="0">
                <a:solidFill>
                  <a:srgbClr val="34D399"/>
                </a:solidFill>
                <a:latin typeface="Segoe UI"/>
              </a:defRPr>
            </a:pPr>
            <a:r>
              <a:t>  KAVACH: Hexaware (our IP)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04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18CF8"/>
                </a:solidFill>
                <a:latin typeface="Segoe UI"/>
              </a:defRPr>
            </a:pPr>
            <a:r>
              <a:t>KNOWLEDGE GRAPH + GraphRAG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8FAFC"/>
                </a:solidFill>
                <a:latin typeface="Segoe UI"/>
              </a:defRPr>
            </a:pPr>
            <a:r>
              <a:t>Compliance Knowledge Graph with Graph RAG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303520" cy="4572000"/>
          </a:xfrm>
          <a:prstGeom prst="roundRect">
            <a:avLst/>
          </a:prstGeom>
          <a:solidFill>
            <a:srgbClr val="161B30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600" b="1">
                <a:solidFill>
                  <a:srgbClr val="FBBF24"/>
                </a:solidFill>
                <a:latin typeface="Segoe UI"/>
              </a:defRPr>
            </a:pPr>
            <a:r>
              <a:t>How GraphRAG Works in KAVACH</a:t>
            </a:r>
          </a:p>
          <a:p>
            <a:pPr>
              <a:spcAft>
                <a:spcPts val="300"/>
              </a:spcAft>
              <a:defRPr sz="600" b="0">
                <a:solidFill>
                  <a:srgbClr val="94A3B8"/>
                </a:solidFill>
                <a:latin typeface="Segoe UI"/>
              </a:defRPr>
            </a:pPr>
          </a:p>
          <a:p>
            <a:pPr>
              <a:spcAft>
                <a:spcPts val="300"/>
              </a:spcAft>
              <a:defRPr sz="1300" b="1">
                <a:solidFill>
                  <a:srgbClr val="A5B4FC"/>
                </a:solidFill>
                <a:latin typeface="Segoe UI"/>
              </a:defRPr>
            </a:pPr>
            <a:r>
              <a:t>1. Compliance Knowledge Graph</a:t>
            </a:r>
          </a:p>
          <a:p>
            <a:pPr>
              <a:spcAft>
                <a:spcPts val="300"/>
              </a:spcAft>
              <a:defRPr sz="1200" b="0">
                <a:solidFill>
                  <a:srgbClr val="94A3B8"/>
                </a:solidFill>
                <a:latin typeface="Segoe UI"/>
              </a:defRPr>
            </a:pPr>
            <a:r>
              <a:t>All regulations, controls, systems modeled as connected nodes.</a:t>
            </a:r>
          </a:p>
          <a:p>
            <a:pPr>
              <a:spcAft>
                <a:spcPts val="300"/>
              </a:spcAft>
              <a:defRPr sz="1200" b="0">
                <a:solidFill>
                  <a:srgbClr val="94A3B8"/>
                </a:solidFill>
                <a:latin typeface="Segoe UI"/>
              </a:defRPr>
            </a:pPr>
            <a:r>
              <a:t>Edges: violates, requires, triggers, penalizes.</a:t>
            </a:r>
          </a:p>
          <a:p>
            <a:pPr>
              <a:spcAft>
                <a:spcPts val="300"/>
              </a:spcAft>
              <a:defRPr sz="400" b="0">
                <a:solidFill>
                  <a:srgbClr val="94A3B8"/>
                </a:solidFill>
                <a:latin typeface="Segoe UI"/>
              </a:defRPr>
            </a:pPr>
          </a:p>
          <a:p>
            <a:pPr>
              <a:spcAft>
                <a:spcPts val="300"/>
              </a:spcAft>
              <a:defRPr sz="1300" b="1">
                <a:solidFill>
                  <a:srgbClr val="A5B4FC"/>
                </a:solidFill>
                <a:latin typeface="Segoe UI"/>
              </a:defRPr>
            </a:pPr>
            <a:r>
              <a:t>2. Causal Path Traversal</a:t>
            </a:r>
          </a:p>
          <a:p>
            <a:pPr>
              <a:spcAft>
                <a:spcPts val="300"/>
              </a:spcAft>
              <a:defRPr sz="1200" b="0">
                <a:solidFill>
                  <a:srgbClr val="94A3B8"/>
                </a:solidFill>
                <a:latin typeface="Segoe UI"/>
              </a:defRPr>
            </a:pPr>
            <a:r>
              <a:t>On event: traverse graph for all downstream impacts.</a:t>
            </a:r>
          </a:p>
          <a:p>
            <a:pPr>
              <a:spcAft>
                <a:spcPts val="300"/>
              </a:spcAft>
              <a:defRPr sz="1200" b="0">
                <a:solidFill>
                  <a:srgbClr val="94A3B8"/>
                </a:solidFill>
                <a:latin typeface="Segoe UI"/>
              </a:defRPr>
            </a:pPr>
            <a:r>
              <a:t>E.g.: SQL injection -&gt; PCI-DSS 6.5 -&gt; MSA SLA -&gt; $50K penalty</a:t>
            </a:r>
          </a:p>
          <a:p>
            <a:pPr>
              <a:spcAft>
                <a:spcPts val="300"/>
              </a:spcAft>
              <a:defRPr sz="400" b="0">
                <a:solidFill>
                  <a:srgbClr val="94A3B8"/>
                </a:solidFill>
                <a:latin typeface="Segoe UI"/>
              </a:defRPr>
            </a:pPr>
          </a:p>
          <a:p>
            <a:pPr>
              <a:spcAft>
                <a:spcPts val="300"/>
              </a:spcAft>
              <a:defRPr sz="1300" b="1">
                <a:solidFill>
                  <a:srgbClr val="A5B4FC"/>
                </a:solidFill>
                <a:latin typeface="Segoe UI"/>
              </a:defRPr>
            </a:pPr>
            <a:r>
              <a:t>3. RAG (Retrieval-Augmented Generation)</a:t>
            </a:r>
          </a:p>
          <a:p>
            <a:pPr>
              <a:spcAft>
                <a:spcPts val="300"/>
              </a:spcAft>
              <a:defRPr sz="1200" b="0">
                <a:solidFill>
                  <a:srgbClr val="94A3B8"/>
                </a:solidFill>
                <a:latin typeface="Segoe UI"/>
              </a:defRPr>
            </a:pPr>
            <a:r>
              <a:t>Retrieved paths passed as context to LLM.</a:t>
            </a:r>
          </a:p>
          <a:p>
            <a:pPr>
              <a:spcAft>
                <a:spcPts val="300"/>
              </a:spcAft>
              <a:defRPr sz="1200" b="0">
                <a:solidFill>
                  <a:srgbClr val="94A3B8"/>
                </a:solidFill>
                <a:latin typeface="Segoe UI"/>
              </a:defRPr>
            </a:pPr>
            <a:r>
              <a:t>Enables precise, regulation-aware reasoning.</a:t>
            </a:r>
          </a:p>
          <a:p>
            <a:pPr>
              <a:spcAft>
                <a:spcPts val="300"/>
              </a:spcAft>
              <a:defRPr sz="400" b="0">
                <a:solidFill>
                  <a:srgbClr val="94A3B8"/>
                </a:solidFill>
                <a:latin typeface="Segoe UI"/>
              </a:defRPr>
            </a:pPr>
          </a:p>
          <a:p>
            <a:pPr>
              <a:spcAft>
                <a:spcPts val="300"/>
              </a:spcAft>
              <a:defRPr sz="1300" b="1">
                <a:solidFill>
                  <a:srgbClr val="A5B4FC"/>
                </a:solidFill>
                <a:latin typeface="Segoe UI"/>
              </a:defRPr>
            </a:pPr>
            <a:r>
              <a:t>4. Multi-Domain Impact Output</a:t>
            </a:r>
          </a:p>
          <a:p>
            <a:pPr>
              <a:spcAft>
                <a:spcPts val="300"/>
              </a:spcAft>
              <a:defRPr sz="1200" b="0">
                <a:solidFill>
                  <a:srgbClr val="94A3B8"/>
                </a:solidFill>
                <a:latin typeface="Segoe UI"/>
              </a:defRPr>
            </a:pPr>
            <a:r>
              <a:t>Structured response: domains, regulations, severity, actions.</a:t>
            </a:r>
          </a:p>
          <a:p>
            <a:pPr>
              <a:spcAft>
                <a:spcPts val="300"/>
              </a:spcAft>
              <a:defRPr sz="1200" b="0">
                <a:solidFill>
                  <a:srgbClr val="34D399"/>
                </a:solidFill>
                <a:latin typeface="Segoe UI"/>
              </a:defRPr>
            </a:pPr>
            <a:r>
              <a:t>All within 2 seconds of the triggering event.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737360"/>
            <a:ext cx="5303520" cy="4572000"/>
          </a:xfrm>
          <a:prstGeom prst="roundRect">
            <a:avLst/>
          </a:prstGeom>
          <a:solidFill>
            <a:srgbClr val="161B30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92024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600" b="1">
                <a:solidFill>
                  <a:srgbClr val="F8FAFC"/>
                </a:solidFill>
                <a:latin typeface="Segoe UI"/>
              </a:defRPr>
            </a:pPr>
            <a:r>
              <a:t>Example: How One Finding Cascades</a:t>
            </a:r>
          </a:p>
          <a:p>
            <a:pPr>
              <a:spcAft>
                <a:spcPts val="200"/>
              </a:spcAft>
              <a:defRPr sz="600" b="0">
                <a:solidFill>
                  <a:srgbClr val="94A3B8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1200" b="0">
                <a:solidFill>
                  <a:srgbClr val="94A3B8"/>
                </a:solidFill>
                <a:latin typeface="Segoe UI"/>
              </a:defRPr>
            </a:pPr>
            <a:r>
              <a:t>A developer introduces SQL injection in loan search.</a:t>
            </a:r>
          </a:p>
          <a:p>
            <a:pPr>
              <a:spcAft>
                <a:spcPts val="200"/>
              </a:spcAft>
              <a:defRPr sz="1200" b="0">
                <a:solidFill>
                  <a:srgbClr val="94A3B8"/>
                </a:solidFill>
                <a:latin typeface="Segoe UI"/>
              </a:defRPr>
            </a:pPr>
            <a:r>
              <a:t>KAVACH traces the full impact through the graph:</a:t>
            </a:r>
          </a:p>
          <a:p>
            <a:pPr>
              <a:spcAft>
                <a:spcPts val="200"/>
              </a:spcAft>
              <a:defRPr sz="600" b="0">
                <a:solidFill>
                  <a:srgbClr val="94A3B8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1300" b="1">
                <a:solidFill>
                  <a:srgbClr val="F87171"/>
                </a:solidFill>
                <a:latin typeface="Segoe UI"/>
              </a:defRPr>
            </a:pPr>
            <a:r>
              <a:t>SQL Injection Found</a:t>
            </a:r>
          </a:p>
          <a:p>
            <a:pPr>
              <a:spcAft>
                <a:spcPts val="200"/>
              </a:spcAft>
              <a:defRPr sz="1200" b="0">
                <a:solidFill>
                  <a:srgbClr val="94A3B8"/>
                </a:solidFill>
                <a:latin typeface="Segoe UI"/>
              </a:defRPr>
            </a:pPr>
            <a:r>
              <a:t>  |-- violates PCI-DSS 6.5 (secure coding)</a:t>
            </a:r>
          </a:p>
          <a:p>
            <a:pPr>
              <a:spcAft>
                <a:spcPts val="200"/>
              </a:spcAft>
              <a:defRPr sz="1200" b="0">
                <a:solidFill>
                  <a:srgbClr val="94A3B8"/>
                </a:solidFill>
                <a:latin typeface="Segoe UI"/>
              </a:defRPr>
            </a:pPr>
            <a:r>
              <a:t>  |-- violates OWASP A03 (injection prevention)</a:t>
            </a:r>
          </a:p>
          <a:p>
            <a:pPr>
              <a:spcAft>
                <a:spcPts val="200"/>
              </a:spcAft>
              <a:defRPr sz="1200" b="0">
                <a:solidFill>
                  <a:srgbClr val="FBBF24"/>
                </a:solidFill>
                <a:latin typeface="Segoe UI"/>
              </a:defRPr>
            </a:pPr>
            <a:r>
              <a:t>  |-- triggers MSA 7.2 SLA (48-hour clock starts)</a:t>
            </a:r>
          </a:p>
          <a:p>
            <a:pPr>
              <a:spcAft>
                <a:spcPts val="200"/>
              </a:spcAft>
              <a:defRPr sz="1200" b="0">
                <a:solidFill>
                  <a:srgbClr val="F87171"/>
                </a:solidFill>
                <a:latin typeface="Segoe UI"/>
              </a:defRPr>
            </a:pPr>
            <a:r>
              <a:t>  |    '-- penalty: $50,000/incident</a:t>
            </a:r>
          </a:p>
          <a:p>
            <a:pPr>
              <a:spcAft>
                <a:spcPts val="200"/>
              </a:spcAft>
              <a:defRPr sz="1200" b="0">
                <a:solidFill>
                  <a:srgbClr val="94A3B8"/>
                </a:solidFill>
                <a:latin typeface="Segoe UI"/>
              </a:defRPr>
            </a:pPr>
            <a:r>
              <a:t>  |-- requires Code Review (before fix ships)</a:t>
            </a:r>
          </a:p>
          <a:p>
            <a:pPr>
              <a:spcAft>
                <a:spcPts val="200"/>
              </a:spcAft>
              <a:defRPr sz="1200" b="0">
                <a:solidFill>
                  <a:srgbClr val="34D399"/>
                </a:solidFill>
                <a:latin typeface="Segoe UI"/>
              </a:defRPr>
            </a:pPr>
            <a:r>
              <a:t>  |    '-- satisfies ITGC-CM-06 (SOX)</a:t>
            </a:r>
          </a:p>
          <a:p>
            <a:pPr>
              <a:spcAft>
                <a:spcPts val="200"/>
              </a:spcAft>
              <a:defRPr sz="1200" b="1">
                <a:solidFill>
                  <a:srgbClr val="F87171"/>
                </a:solidFill>
                <a:latin typeface="Segoe UI"/>
              </a:defRPr>
            </a:pPr>
            <a:r>
              <a:t>  '-- blocks Deployment (gate: BLOCKED)</a:t>
            </a:r>
          </a:p>
          <a:p>
            <a:pPr>
              <a:spcAft>
                <a:spcPts val="200"/>
              </a:spcAft>
              <a:defRPr sz="600" b="0">
                <a:solidFill>
                  <a:srgbClr val="94A3B8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1100" b="0">
                <a:solidFill>
                  <a:srgbClr val="64748B"/>
                </a:solidFill>
                <a:latin typeface="Segoe UI"/>
              </a:defRPr>
            </a:pPr>
            <a:r>
              <a:t>What AI receives: traced paths + actual code +</a:t>
            </a:r>
          </a:p>
          <a:p>
            <a:pPr>
              <a:spcAft>
                <a:spcPts val="200"/>
              </a:spcAft>
              <a:defRPr sz="1100" b="0">
                <a:solidFill>
                  <a:srgbClr val="64748B"/>
                </a:solidFill>
                <a:latin typeface="Segoe UI"/>
              </a:defRPr>
            </a:pPr>
            <a:r>
              <a:t>client's contract terms -&gt; complete assessment.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05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18CF8"/>
                </a:solidFill>
                <a:latin typeface="Segoe UI"/>
              </a:defRPr>
            </a:pPr>
            <a:r>
              <a:t>AGENTIC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8FAFC"/>
                </a:solidFill>
                <a:latin typeface="Segoe UI"/>
              </a:defRPr>
            </a:pPr>
            <a:r>
              <a:t>5 Autonomous Agents - Perceive, Reason, 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566160" cy="2011680"/>
          </a:xfrm>
          <a:prstGeom prst="roundRect">
            <a:avLst/>
          </a:prstGeom>
          <a:solidFill>
            <a:srgbClr val="161B30"/>
          </a:solidFill>
          <a:ln w="190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9320" y="195580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818CF8"/>
                </a:solidFill>
                <a:latin typeface="Segoe UI"/>
              </a:defRPr>
            </a:pPr>
            <a:r>
              <a:t>Digital Twin Agent</a:t>
            </a:r>
          </a:p>
          <a:p>
            <a:pPr>
              <a:spcAft>
                <a:spcPts val="400"/>
              </a:spcAft>
              <a:defRPr sz="400" b="0">
                <a:solidFill>
                  <a:srgbClr val="94A3B8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300" b="0">
                <a:solidFill>
                  <a:srgbClr val="F8FAFC"/>
                </a:solidFill>
                <a:latin typeface="Segoe UI"/>
              </a:defRPr>
            </a:pPr>
            <a:r>
              <a:t>Per-client compliance state</a:t>
            </a:r>
          </a:p>
          <a:p>
            <a:pPr>
              <a:spcAft>
                <a:spcPts val="400"/>
              </a:spcAft>
              <a:defRPr sz="1200" b="0">
                <a:solidFill>
                  <a:srgbClr val="94A3B8"/>
                </a:solidFill>
                <a:latin typeface="Segoe UI"/>
              </a:defRPr>
            </a:pPr>
            <a:r>
              <a:t>Scores, risks, frameworks, SLAs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1828800"/>
            <a:ext cx="3566160" cy="2011680"/>
          </a:xfrm>
          <a:prstGeom prst="roundRect">
            <a:avLst/>
          </a:prstGeom>
          <a:solidFill>
            <a:srgbClr val="161B30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49800" y="195580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FBBF24"/>
                </a:solidFill>
                <a:latin typeface="Segoe UI"/>
              </a:defRPr>
            </a:pPr>
            <a:r>
              <a:t>Chain Reactor Agent</a:t>
            </a:r>
          </a:p>
          <a:p>
            <a:pPr>
              <a:spcAft>
                <a:spcPts val="400"/>
              </a:spcAft>
              <a:defRPr sz="400" b="0">
                <a:solidFill>
                  <a:srgbClr val="94A3B8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300" b="0">
                <a:solidFill>
                  <a:srgbClr val="F8FAFC"/>
                </a:solidFill>
                <a:latin typeface="Segoe UI"/>
              </a:defRPr>
            </a:pPr>
            <a:r>
              <a:t>Cross-domain causal reasoning</a:t>
            </a:r>
          </a:p>
          <a:p>
            <a:pPr>
              <a:spcAft>
                <a:spcPts val="400"/>
              </a:spcAft>
              <a:defRPr sz="1200" b="0">
                <a:solidFill>
                  <a:srgbClr val="94A3B8"/>
                </a:solidFill>
                <a:latin typeface="Segoe UI"/>
              </a:defRPr>
            </a:pPr>
            <a:r>
              <a:t>1 event -&gt; 6 domains analyzed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0" y="1828800"/>
            <a:ext cx="3566160" cy="2011680"/>
          </a:xfrm>
          <a:prstGeom prst="roundRect">
            <a:avLst/>
          </a:prstGeom>
          <a:solidFill>
            <a:srgbClr val="161B30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0280" y="195580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34D399"/>
                </a:solidFill>
                <a:latin typeface="Segoe UI"/>
              </a:defRPr>
            </a:pPr>
            <a:r>
              <a:t>Audit Narrator Agent</a:t>
            </a:r>
          </a:p>
          <a:p>
            <a:pPr>
              <a:spcAft>
                <a:spcPts val="400"/>
              </a:spcAft>
              <a:defRPr sz="400" b="0">
                <a:solidFill>
                  <a:srgbClr val="94A3B8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300" b="0">
                <a:solidFill>
                  <a:srgbClr val="F8FAFC"/>
                </a:solidFill>
                <a:latin typeface="Segoe UI"/>
              </a:defRPr>
            </a:pPr>
            <a:r>
              <a:t>Auto-generates evidence</a:t>
            </a:r>
          </a:p>
          <a:p>
            <a:pPr>
              <a:spcAft>
                <a:spcPts val="400"/>
              </a:spcAft>
              <a:defRPr sz="1200" b="0">
                <a:solidFill>
                  <a:srgbClr val="94A3B8"/>
                </a:solidFill>
                <a:latin typeface="Segoe UI"/>
              </a:defRPr>
            </a:pPr>
            <a:r>
              <a:t>LLM writes audit narratives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206240"/>
            <a:ext cx="3566160" cy="2011680"/>
          </a:xfrm>
          <a:prstGeom prst="roundRect">
            <a:avLst/>
          </a:prstGeom>
          <a:solidFill>
            <a:srgbClr val="161B30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9320" y="433324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F87171"/>
                </a:solidFill>
                <a:latin typeface="Segoe UI"/>
              </a:defRPr>
            </a:pPr>
            <a:r>
              <a:t>Drift Sentinel Agent</a:t>
            </a:r>
          </a:p>
          <a:p>
            <a:pPr>
              <a:spcAft>
                <a:spcPts val="400"/>
              </a:spcAft>
              <a:defRPr sz="400" b="0">
                <a:solidFill>
                  <a:srgbClr val="94A3B8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300" b="0">
                <a:solidFill>
                  <a:srgbClr val="F8FAFC"/>
                </a:solidFill>
                <a:latin typeface="Segoe UI"/>
              </a:defRPr>
            </a:pPr>
            <a:r>
              <a:t>Silent degradation detection</a:t>
            </a:r>
          </a:p>
          <a:p>
            <a:pPr>
              <a:spcAft>
                <a:spcPts val="400"/>
              </a:spcAft>
              <a:defRPr sz="1200" b="0">
                <a:solidFill>
                  <a:srgbClr val="94A3B8"/>
                </a:solidFill>
                <a:latin typeface="Segoe UI"/>
              </a:defRPr>
            </a:pPr>
            <a:r>
              <a:t>Access creep, config drift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0" y="4206240"/>
            <a:ext cx="3566160" cy="2011680"/>
          </a:xfrm>
          <a:prstGeom prst="roundRect">
            <a:avLst/>
          </a:prstGeom>
          <a:solidFill>
            <a:srgbClr val="161B30"/>
          </a:solidFill>
          <a:ln w="19050">
            <a:solidFill>
              <a:srgbClr val="A5B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49800" y="433324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A5B4FC"/>
                </a:solidFill>
                <a:latin typeface="Segoe UI"/>
              </a:defRPr>
            </a:pPr>
            <a:r>
              <a:t>Obligation Parser Agent</a:t>
            </a:r>
          </a:p>
          <a:p>
            <a:pPr>
              <a:spcAft>
                <a:spcPts val="400"/>
              </a:spcAft>
              <a:defRPr sz="400" b="0">
                <a:solidFill>
                  <a:srgbClr val="94A3B8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300" b="0">
                <a:solidFill>
                  <a:srgbClr val="F8FAFC"/>
                </a:solidFill>
                <a:latin typeface="Segoe UI"/>
              </a:defRPr>
            </a:pPr>
            <a:r>
              <a:t>Contract -&gt; machine rules</a:t>
            </a:r>
          </a:p>
          <a:p>
            <a:pPr>
              <a:spcAft>
                <a:spcPts val="400"/>
              </a:spcAft>
              <a:defRPr sz="1200" b="0">
                <a:solidFill>
                  <a:srgbClr val="94A3B8"/>
                </a:solidFill>
                <a:latin typeface="Segoe UI"/>
              </a:defRPr>
            </a:pPr>
            <a:r>
              <a:t>MSA text -&gt; enforceable policies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0" y="4206240"/>
            <a:ext cx="3566160" cy="2011680"/>
          </a:xfrm>
          <a:prstGeom prst="roundRect">
            <a:avLst/>
          </a:prstGeom>
          <a:solidFill>
            <a:srgbClr val="161B30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0280" y="433324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FBBF24"/>
                </a:solidFill>
                <a:latin typeface="Segoe UI"/>
              </a:defRPr>
            </a:pPr>
            <a:r>
              <a:t>Control Ingestion Agent</a:t>
            </a:r>
          </a:p>
          <a:p>
            <a:pPr>
              <a:spcAft>
                <a:spcPts val="400"/>
              </a:spcAft>
              <a:defRPr sz="400" b="0">
                <a:solidFill>
                  <a:srgbClr val="94A3B8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300" b="0">
                <a:solidFill>
                  <a:srgbClr val="F8FAFC"/>
                </a:solidFill>
                <a:latin typeface="Segoe UI"/>
              </a:defRPr>
            </a:pPr>
            <a:r>
              <a:t>Add new frameworks via AI</a:t>
            </a:r>
          </a:p>
          <a:p>
            <a:pPr>
              <a:spcAft>
                <a:spcPts val="400"/>
              </a:spcAft>
              <a:defRPr sz="1200" b="0">
                <a:solidFill>
                  <a:srgbClr val="94A3B8"/>
                </a:solidFill>
                <a:latin typeface="Segoe UI"/>
              </a:defRPr>
            </a:pPr>
            <a:r>
              <a:t>Zero code changes needed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06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18CF8"/>
                </a:solidFill>
                <a:latin typeface="Segoe UI"/>
              </a:defRPr>
            </a:pPr>
            <a: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8FAFC"/>
                </a:solidFill>
                <a:latin typeface="Segoe UI"/>
              </a:defRPr>
            </a:pPr>
            <a:r>
              <a:t>Enterprise-Grade Tech Stack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2651760" cy="2194560"/>
          </a:xfrm>
          <a:prstGeom prst="roundRect">
            <a:avLst/>
          </a:prstGeom>
          <a:solidFill>
            <a:srgbClr val="161B30"/>
          </a:solidFill>
          <a:ln w="190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3920" y="1930400"/>
            <a:ext cx="2377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A5B4FC"/>
                </a:solidFill>
                <a:latin typeface="Segoe UI"/>
              </a:defRPr>
            </a:pPr>
            <a:r>
              <a:t>AI / LLM</a:t>
            </a:r>
          </a:p>
          <a:p>
            <a:pPr>
              <a:spcAft>
                <a:spcPts val="300"/>
              </a:spcAft>
              <a:defRPr sz="400" b="0">
                <a:solidFill>
                  <a:srgbClr val="94A3B8"/>
                </a:solidFill>
                <a:latin typeface="Segoe UI"/>
              </a:defRPr>
            </a:pPr>
          </a:p>
          <a:p>
            <a:pPr>
              <a:spcAft>
                <a:spcPts val="30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Llama 3.2 (fine-tuned)</a:t>
            </a:r>
          </a:p>
          <a:p>
            <a:pPr>
              <a:spcAft>
                <a:spcPts val="30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QLoRA Training</a:t>
            </a:r>
          </a:p>
          <a:p>
            <a:pPr>
              <a:spcAft>
                <a:spcPts val="30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Ollama Runtime</a:t>
            </a:r>
          </a:p>
          <a:p>
            <a:pPr>
              <a:spcAft>
                <a:spcPts val="30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AWS Bedrock (Claude)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11880" y="1828800"/>
            <a:ext cx="2651760" cy="2194560"/>
          </a:xfrm>
          <a:prstGeom prst="roundRect">
            <a:avLst/>
          </a:prstGeom>
          <a:solidFill>
            <a:srgbClr val="161B30"/>
          </a:solidFill>
          <a:ln w="190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64280" y="1930400"/>
            <a:ext cx="2377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A5B4FC"/>
                </a:solidFill>
                <a:latin typeface="Segoe UI"/>
              </a:defRPr>
            </a:pPr>
            <a:r>
              <a:t>Backend</a:t>
            </a:r>
          </a:p>
          <a:p>
            <a:pPr>
              <a:spcAft>
                <a:spcPts val="300"/>
              </a:spcAft>
              <a:defRPr sz="400" b="0">
                <a:solidFill>
                  <a:srgbClr val="94A3B8"/>
                </a:solidFill>
                <a:latin typeface="Segoe UI"/>
              </a:defRPr>
            </a:pPr>
          </a:p>
          <a:p>
            <a:pPr>
              <a:spcAft>
                <a:spcPts val="30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Spring Boot 3.4</a:t>
            </a:r>
          </a:p>
          <a:p>
            <a:pPr>
              <a:spcAft>
                <a:spcPts val="30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ActiveMQ (JMS)</a:t>
            </a:r>
          </a:p>
          <a:p>
            <a:pPr>
              <a:spcAft>
                <a:spcPts val="30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H2 Database</a:t>
            </a:r>
          </a:p>
          <a:p>
            <a:pPr>
              <a:spcAft>
                <a:spcPts val="30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JPA / Hibernate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1828800"/>
            <a:ext cx="2651760" cy="2194560"/>
          </a:xfrm>
          <a:prstGeom prst="roundRect">
            <a:avLst/>
          </a:prstGeom>
          <a:solidFill>
            <a:srgbClr val="161B30"/>
          </a:solidFill>
          <a:ln w="190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44640" y="1930400"/>
            <a:ext cx="2377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A5B4FC"/>
                </a:solidFill>
                <a:latin typeface="Segoe UI"/>
              </a:defRPr>
            </a:pPr>
            <a:r>
              <a:t>Graph / RAG</a:t>
            </a:r>
          </a:p>
          <a:p>
            <a:pPr>
              <a:spcAft>
                <a:spcPts val="300"/>
              </a:spcAft>
              <a:defRPr sz="400" b="0">
                <a:solidFill>
                  <a:srgbClr val="94A3B8"/>
                </a:solidFill>
                <a:latin typeface="Segoe UI"/>
              </a:defRPr>
            </a:pPr>
          </a:p>
          <a:p>
            <a:pPr>
              <a:spcAft>
                <a:spcPts val="30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JGraphT</a:t>
            </a:r>
          </a:p>
          <a:p>
            <a:pPr>
              <a:spcAft>
                <a:spcPts val="30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Causal Path Analysis</a:t>
            </a:r>
          </a:p>
          <a:p>
            <a:pPr>
              <a:spcAft>
                <a:spcPts val="30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GraphRAG Retrieval</a:t>
            </a:r>
          </a:p>
          <a:p>
            <a:pPr>
              <a:spcAft>
                <a:spcPts val="30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Knowledge Graph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1828800"/>
            <a:ext cx="2651760" cy="2194560"/>
          </a:xfrm>
          <a:prstGeom prst="roundRect">
            <a:avLst/>
          </a:prstGeom>
          <a:solidFill>
            <a:srgbClr val="161B30"/>
          </a:solidFill>
          <a:ln w="190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25000" y="1930400"/>
            <a:ext cx="2377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A5B4FC"/>
                </a:solidFill>
                <a:latin typeface="Segoe UI"/>
              </a:defRPr>
            </a:pPr>
            <a:r>
              <a:t>Frontend</a:t>
            </a:r>
          </a:p>
          <a:p>
            <a:pPr>
              <a:spcAft>
                <a:spcPts val="300"/>
              </a:spcAft>
              <a:defRPr sz="400" b="0">
                <a:solidFill>
                  <a:srgbClr val="94A3B8"/>
                </a:solidFill>
                <a:latin typeface="Segoe UI"/>
              </a:defRPr>
            </a:pPr>
          </a:p>
          <a:p>
            <a:pPr>
              <a:spcAft>
                <a:spcPts val="30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Real-time Dashboard</a:t>
            </a:r>
          </a:p>
          <a:p>
            <a:pPr>
              <a:spcAft>
                <a:spcPts val="30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Auto-refresh (no reload)</a:t>
            </a:r>
          </a:p>
          <a:p>
            <a:pPr>
              <a:spcAft>
                <a:spcPts val="30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5 Interactive Views</a:t>
            </a:r>
          </a:p>
          <a:p>
            <a:pPr>
              <a:spcAft>
                <a:spcPts val="30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Click-to-expand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297680"/>
            <a:ext cx="2651760" cy="2194560"/>
          </a:xfrm>
          <a:prstGeom prst="roundRect">
            <a:avLst/>
          </a:prstGeom>
          <a:solidFill>
            <a:srgbClr val="161B30"/>
          </a:solidFill>
          <a:ln w="190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3920" y="4399280"/>
            <a:ext cx="2377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A5B4FC"/>
                </a:solidFill>
                <a:latin typeface="Segoe UI"/>
              </a:defRPr>
            </a:pPr>
            <a:r>
              <a:t>Code Analysis</a:t>
            </a:r>
          </a:p>
          <a:p>
            <a:pPr>
              <a:spcAft>
                <a:spcPts val="300"/>
              </a:spcAft>
              <a:defRPr sz="400" b="0">
                <a:solidFill>
                  <a:srgbClr val="94A3B8"/>
                </a:solidFill>
                <a:latin typeface="Segoe UI"/>
              </a:defRPr>
            </a:pPr>
          </a:p>
          <a:p>
            <a:pPr>
              <a:spcAft>
                <a:spcPts val="30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AI Scanner (Ollama)</a:t>
            </a:r>
          </a:p>
          <a:p>
            <a:pPr>
              <a:spcAft>
                <a:spcPts val="30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Entropy-based secrets</a:t>
            </a:r>
          </a:p>
          <a:p>
            <a:pPr>
              <a:spcAft>
                <a:spcPts val="30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SAST integration</a:t>
            </a:r>
          </a:p>
          <a:p>
            <a:pPr>
              <a:spcAft>
                <a:spcPts val="30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File System Watcher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11880" y="4297680"/>
            <a:ext cx="2651760" cy="2194560"/>
          </a:xfrm>
          <a:prstGeom prst="roundRect">
            <a:avLst/>
          </a:prstGeom>
          <a:solidFill>
            <a:srgbClr val="161B30"/>
          </a:solidFill>
          <a:ln w="190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64280" y="4399280"/>
            <a:ext cx="2377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A5B4FC"/>
                </a:solidFill>
                <a:latin typeface="Segoe UI"/>
              </a:defRPr>
            </a:pPr>
            <a:r>
              <a:t>Event Pipeline</a:t>
            </a:r>
          </a:p>
          <a:p>
            <a:pPr>
              <a:spcAft>
                <a:spcPts val="300"/>
              </a:spcAft>
              <a:defRPr sz="400" b="0">
                <a:solidFill>
                  <a:srgbClr val="94A3B8"/>
                </a:solidFill>
                <a:latin typeface="Segoe UI"/>
              </a:defRPr>
            </a:pPr>
          </a:p>
          <a:p>
            <a:pPr>
              <a:spcAft>
                <a:spcPts val="30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Webhook ingestion</a:t>
            </a:r>
          </a:p>
          <a:p>
            <a:pPr>
              <a:spcAft>
                <a:spcPts val="30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JMS message queue</a:t>
            </a:r>
          </a:p>
          <a:p>
            <a:pPr>
              <a:spcAft>
                <a:spcPts val="30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Event-driven agents</a:t>
            </a:r>
          </a:p>
          <a:p>
            <a:pPr>
              <a:spcAft>
                <a:spcPts val="30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Async processing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92240" y="4297680"/>
            <a:ext cx="2651760" cy="2194560"/>
          </a:xfrm>
          <a:prstGeom prst="roundRect">
            <a:avLst/>
          </a:prstGeom>
          <a:solidFill>
            <a:srgbClr val="161B30"/>
          </a:solidFill>
          <a:ln w="190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44640" y="4399280"/>
            <a:ext cx="2377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A5B4FC"/>
                </a:solidFill>
                <a:latin typeface="Segoe UI"/>
              </a:defRPr>
            </a:pPr>
            <a:r>
              <a:t>Microservices</a:t>
            </a:r>
          </a:p>
          <a:p>
            <a:pPr>
              <a:spcAft>
                <a:spcPts val="300"/>
              </a:spcAft>
              <a:defRPr sz="400" b="0">
                <a:solidFill>
                  <a:srgbClr val="94A3B8"/>
                </a:solidFill>
                <a:latin typeface="Segoe UI"/>
              </a:defRPr>
            </a:pPr>
          </a:p>
          <a:p>
            <a:pPr>
              <a:spcAft>
                <a:spcPts val="30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Gradle Multi-project</a:t>
            </a:r>
          </a:p>
          <a:p>
            <a:pPr>
              <a:spcAft>
                <a:spcPts val="30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Alpha/Beta/Gamma</a:t>
            </a:r>
          </a:p>
          <a:p>
            <a:pPr>
              <a:spcAft>
                <a:spcPts val="30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Selective Deploy</a:t>
            </a:r>
          </a:p>
          <a:p>
            <a:pPr>
              <a:spcAft>
                <a:spcPts val="30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Jenkins Pipeline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372600" y="4297680"/>
            <a:ext cx="2651760" cy="2194560"/>
          </a:xfrm>
          <a:prstGeom prst="roundRect">
            <a:avLst/>
          </a:prstGeom>
          <a:solidFill>
            <a:srgbClr val="161B30"/>
          </a:solidFill>
          <a:ln w="190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25000" y="4399280"/>
            <a:ext cx="2377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A5B4FC"/>
                </a:solidFill>
                <a:latin typeface="Segoe UI"/>
              </a:defRPr>
            </a:pPr>
            <a:r>
              <a:t>Cloud / Infra</a:t>
            </a:r>
          </a:p>
          <a:p>
            <a:pPr>
              <a:spcAft>
                <a:spcPts val="300"/>
              </a:spcAft>
              <a:defRPr sz="400" b="0">
                <a:solidFill>
                  <a:srgbClr val="94A3B8"/>
                </a:solidFill>
                <a:latin typeface="Segoe UI"/>
              </a:defRPr>
            </a:pPr>
          </a:p>
          <a:p>
            <a:pPr>
              <a:spcAft>
                <a:spcPts val="30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AWS (Bedrock, S3)</a:t>
            </a:r>
          </a:p>
          <a:p>
            <a:pPr>
              <a:spcAft>
                <a:spcPts val="30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Docker / K8s ready</a:t>
            </a:r>
          </a:p>
          <a:p>
            <a:pPr>
              <a:spcAft>
                <a:spcPts val="30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Zero external deps</a:t>
            </a:r>
          </a:p>
          <a:p>
            <a:pPr>
              <a:spcAft>
                <a:spcPts val="30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Self-contained demo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07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18CF8"/>
                </a:solidFill>
                <a:latin typeface="Segoe UI"/>
              </a:defRPr>
            </a:pPr>
            <a:r>
              <a:t>KEY DIFFERENTIATOR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8FAFC"/>
                </a:solidFill>
                <a:latin typeface="Segoe UI"/>
              </a:defRPr>
            </a:pPr>
            <a:r>
              <a:t>One Commit -&gt; Six Compliance Domains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486400" cy="4754880"/>
          </a:xfrm>
          <a:prstGeom prst="roundRect">
            <a:avLst/>
          </a:prstGeom>
          <a:solidFill>
            <a:srgbClr val="161B30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F8FAFC"/>
                </a:solidFill>
                <a:latin typeface="Segoe UI"/>
              </a:defRPr>
            </a:pPr>
            <a:r>
              <a:t>Scenario: Developer Pushes Code to Rate Calculation</a:t>
            </a:r>
          </a:p>
          <a:p>
            <a:pPr>
              <a:spcAft>
                <a:spcPts val="300"/>
              </a:spcAft>
              <a:defRPr sz="400" b="0">
                <a:solidFill>
                  <a:srgbClr val="94A3B8"/>
                </a:solidFill>
                <a:latin typeface="Segoe UI"/>
              </a:defRPr>
            </a:pPr>
          </a:p>
          <a:p>
            <a:pPr>
              <a:spcAft>
                <a:spcPts val="300"/>
              </a:spcAft>
              <a:defRPr sz="1200" b="0">
                <a:solidFill>
                  <a:srgbClr val="94A3B8"/>
                </a:solidFill>
                <a:latin typeface="Segoe UI"/>
              </a:defRPr>
            </a:pPr>
            <a:r>
              <a:t>A routine commit modifies ARM interest rate logic -</a:t>
            </a:r>
          </a:p>
          <a:p>
            <a:pPr>
              <a:spcAft>
                <a:spcPts val="300"/>
              </a:spcAft>
              <a:defRPr sz="1200" b="0">
                <a:solidFill>
                  <a:srgbClr val="94A3B8"/>
                </a:solidFill>
                <a:latin typeface="Segoe UI"/>
              </a:defRPr>
            </a:pPr>
            <a:r>
              <a:t>touches financially-significant code and borrower PII.</a:t>
            </a:r>
          </a:p>
          <a:p>
            <a:pPr>
              <a:spcAft>
                <a:spcPts val="300"/>
              </a:spcAft>
              <a:defRPr sz="600" b="0">
                <a:solidFill>
                  <a:srgbClr val="94A3B8"/>
                </a:solidFill>
                <a:latin typeface="Segoe UI"/>
              </a:defRPr>
            </a:pPr>
          </a:p>
          <a:p>
            <a:pPr>
              <a:spcAft>
                <a:spcPts val="300"/>
              </a:spcAft>
              <a:defRPr sz="1200" b="0">
                <a:solidFill>
                  <a:srgbClr val="FBBF24"/>
                </a:solidFill>
                <a:latin typeface="Segoe UI"/>
              </a:defRPr>
            </a:pPr>
            <a:r>
              <a:t>What changed: Rate cap + eligibility logic</a:t>
            </a:r>
          </a:p>
          <a:p>
            <a:pPr>
              <a:spcAft>
                <a:spcPts val="300"/>
              </a:spcAft>
              <a:defRPr sz="1200" b="0">
                <a:solidFill>
                  <a:srgbClr val="FBBF24"/>
                </a:solidFill>
                <a:latin typeface="Segoe UI"/>
              </a:defRPr>
            </a:pPr>
            <a:r>
              <a:t>Impact: Determines borrower's rate</a:t>
            </a:r>
          </a:p>
          <a:p>
            <a:pPr>
              <a:spcAft>
                <a:spcPts val="300"/>
              </a:spcAft>
              <a:defRPr sz="1200" b="0">
                <a:solidFill>
                  <a:srgbClr val="F87171"/>
                </a:solidFill>
                <a:latin typeface="Segoe UI"/>
              </a:defRPr>
            </a:pPr>
            <a:r>
              <a:t>SAST: Race condition (HIGH)</a:t>
            </a:r>
          </a:p>
          <a:p>
            <a:pPr>
              <a:spcAft>
                <a:spcPts val="300"/>
              </a:spcAft>
              <a:defRPr sz="1200" b="0">
                <a:solidFill>
                  <a:srgbClr val="94A3B8"/>
                </a:solidFill>
                <a:latin typeface="Segoe UI"/>
              </a:defRPr>
            </a:pPr>
            <a:r>
              <a:t>Data: Income, credit score (PII)</a:t>
            </a:r>
          </a:p>
          <a:p>
            <a:pPr>
              <a:spcAft>
                <a:spcPts val="300"/>
              </a:spcAft>
              <a:defRPr sz="600" b="0">
                <a:solidFill>
                  <a:srgbClr val="94A3B8"/>
                </a:solidFill>
                <a:latin typeface="Segoe UI"/>
              </a:defRPr>
            </a:pPr>
          </a:p>
          <a:p>
            <a:pPr>
              <a:spcAft>
                <a:spcPts val="300"/>
              </a:spcAft>
              <a:defRPr sz="1300" b="1">
                <a:solidFill>
                  <a:srgbClr val="34D399"/>
                </a:solidFill>
                <a:latin typeface="Segoe UI"/>
              </a:defRPr>
            </a:pPr>
            <a:r>
              <a:t>Chain Reactor fires - 6 domains in &lt;2 seconds:</a:t>
            </a:r>
          </a:p>
          <a:p>
            <a:pPr>
              <a:spcAft>
                <a:spcPts val="300"/>
              </a:spcAft>
              <a:defRPr sz="400" b="0">
                <a:solidFill>
                  <a:srgbClr val="94A3B8"/>
                </a:solidFill>
                <a:latin typeface="Segoe UI"/>
              </a:defRPr>
            </a:pPr>
          </a:p>
          <a:p>
            <a:pPr>
              <a:spcAft>
                <a:spcPts val="300"/>
              </a:spcAft>
              <a:defRPr sz="1200" b="0">
                <a:solidFill>
                  <a:srgbClr val="F8FAFC"/>
                </a:solidFill>
                <a:latin typeface="Segoe UI"/>
              </a:defRPr>
            </a:pPr>
            <a:r>
              <a:t>  [SOX] Dual approval required for financial system</a:t>
            </a:r>
          </a:p>
          <a:p>
            <a:pPr>
              <a:spcAft>
                <a:spcPts val="300"/>
              </a:spcAft>
              <a:defRPr sz="1200" b="0">
                <a:solidFill>
                  <a:srgbClr val="F8FAFC"/>
                </a:solidFill>
                <a:latin typeface="Segoe UI"/>
              </a:defRPr>
            </a:pPr>
            <a:r>
              <a:t>  [Security] SAST finding blocks deployment</a:t>
            </a:r>
          </a:p>
          <a:p>
            <a:pPr>
              <a:spcAft>
                <a:spcPts val="300"/>
              </a:spcAft>
              <a:defRPr sz="1200" b="0">
                <a:solidFill>
                  <a:srgbClr val="F8FAFC"/>
                </a:solidFill>
                <a:latin typeface="Segoe UI"/>
              </a:defRPr>
            </a:pPr>
            <a:r>
              <a:t>  [TILA/Reg Z] APR accuracy validation needed</a:t>
            </a:r>
          </a:p>
          <a:p>
            <a:pPr>
              <a:spcAft>
                <a:spcPts val="300"/>
              </a:spcAft>
              <a:defRPr sz="1200" b="0">
                <a:solidFill>
                  <a:srgbClr val="F8FAFC"/>
                </a:solidFill>
                <a:latin typeface="Segoe UI"/>
              </a:defRPr>
            </a:pPr>
            <a:r>
              <a:t>  [Fair Lending] Disparate impact analysis required</a:t>
            </a:r>
          </a:p>
          <a:p>
            <a:pPr>
              <a:spcAft>
                <a:spcPts val="300"/>
              </a:spcAft>
              <a:defRPr sz="1200" b="0">
                <a:solidFill>
                  <a:srgbClr val="F8FAFC"/>
                </a:solidFill>
                <a:latin typeface="Segoe UI"/>
              </a:defRPr>
            </a:pPr>
            <a:r>
              <a:t>  [Contractual] Client notification per MSA</a:t>
            </a:r>
          </a:p>
          <a:p>
            <a:pPr>
              <a:spcAft>
                <a:spcPts val="300"/>
              </a:spcAft>
              <a:defRPr sz="1200" b="0">
                <a:solidFill>
                  <a:srgbClr val="F8FAFC"/>
                </a:solidFill>
                <a:latin typeface="Segoe UI"/>
              </a:defRPr>
            </a:pPr>
            <a:r>
              <a:t>  [PCI-DSS] Code review required before release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1645920"/>
            <a:ext cx="5120640" cy="4754880"/>
          </a:xfrm>
          <a:prstGeom prst="roundRect">
            <a:avLst/>
          </a:prstGeom>
          <a:solidFill>
            <a:srgbClr val="161B30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0" y="1828800"/>
            <a:ext cx="4663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F8FAFC"/>
                </a:solidFill>
                <a:latin typeface="Segoe UI"/>
              </a:defRPr>
            </a:pPr>
            <a:r>
              <a:t>Why Existing Tools Fall Short</a:t>
            </a:r>
          </a:p>
          <a:p>
            <a:pPr>
              <a:spcAft>
                <a:spcPts val="200"/>
              </a:spcAft>
              <a:defRPr sz="600" b="0">
                <a:solidFill>
                  <a:srgbClr val="94A3B8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1200" b="1">
                <a:solidFill>
                  <a:srgbClr val="64748B"/>
                </a:solidFill>
                <a:latin typeface="Segoe UI"/>
              </a:defRPr>
            </a:pPr>
            <a:r>
              <a:t>Vanta / Drata ($25-50K/yr)</a:t>
            </a:r>
          </a:p>
          <a:p>
            <a:pPr>
              <a:spcAft>
                <a:spcPts val="20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  Single-company only. No per-client context.</a:t>
            </a:r>
          </a:p>
          <a:p>
            <a:pPr>
              <a:spcAft>
                <a:spcPts val="200"/>
              </a:spcAft>
              <a:defRPr sz="300" b="0">
                <a:solidFill>
                  <a:srgbClr val="94A3B8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1200" b="1">
                <a:solidFill>
                  <a:srgbClr val="64748B"/>
                </a:solidFill>
                <a:latin typeface="Segoe UI"/>
              </a:defRPr>
            </a:pPr>
            <a:r>
              <a:t>ServiceNow GRC ($100-300K/yr)</a:t>
            </a:r>
          </a:p>
          <a:p>
            <a:pPr>
              <a:spcAft>
                <a:spcPts val="20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  Aggregation, no causal reasoning across domains.</a:t>
            </a:r>
          </a:p>
          <a:p>
            <a:pPr>
              <a:spcAft>
                <a:spcPts val="200"/>
              </a:spcAft>
              <a:defRPr sz="300" b="0">
                <a:solidFill>
                  <a:srgbClr val="94A3B8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1200" b="1">
                <a:solidFill>
                  <a:srgbClr val="64748B"/>
                </a:solidFill>
                <a:latin typeface="Segoe UI"/>
              </a:defRPr>
            </a:pPr>
            <a:r>
              <a:t>Checkmarx / Snyk ($50-150K/yr)</a:t>
            </a:r>
          </a:p>
          <a:p>
            <a:pPr>
              <a:spcAft>
                <a:spcPts val="20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  Finds vulns, no SOX/TILA/contractual impact.</a:t>
            </a:r>
          </a:p>
          <a:p>
            <a:pPr>
              <a:spcAft>
                <a:spcPts val="200"/>
              </a:spcAft>
              <a:defRPr sz="300" b="0">
                <a:solidFill>
                  <a:srgbClr val="94A3B8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1200" b="1">
                <a:solidFill>
                  <a:srgbClr val="64748B"/>
                </a:solidFill>
                <a:latin typeface="Segoe UI"/>
              </a:defRPr>
            </a:pPr>
            <a:r>
              <a:t>Fieldguide ($30-80K/yr)</a:t>
            </a:r>
          </a:p>
          <a:p>
            <a:pPr>
              <a:spcAft>
                <a:spcPts val="20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  Helps auditors organize, doesn't generate evidence.</a:t>
            </a:r>
          </a:p>
          <a:p>
            <a:pPr>
              <a:spcAft>
                <a:spcPts val="200"/>
              </a:spcAft>
              <a:defRPr sz="600" b="0">
                <a:solidFill>
                  <a:srgbClr val="94A3B8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1300" b="1">
                <a:solidFill>
                  <a:srgbClr val="34D399"/>
                </a:solidFill>
                <a:latin typeface="Segoe UI"/>
              </a:defRPr>
            </a:pPr>
            <a:r>
              <a:t>KAVACH AI (~$1K/mo infra)</a:t>
            </a:r>
          </a:p>
          <a:p>
            <a:pPr>
              <a:spcAft>
                <a:spcPts val="200"/>
              </a:spcAft>
              <a:defRPr sz="1200" b="0">
                <a:solidFill>
                  <a:srgbClr val="34D399"/>
                </a:solidFill>
                <a:latin typeface="Segoe UI"/>
              </a:defRPr>
            </a:pPr>
            <a:r>
              <a:t>  Cross-domain causal reasoning + auto evidence.</a:t>
            </a:r>
          </a:p>
          <a:p>
            <a:pPr>
              <a:spcAft>
                <a:spcPts val="200"/>
              </a:spcAft>
              <a:defRPr sz="1200" b="0">
                <a:solidFill>
                  <a:srgbClr val="34D399"/>
                </a:solidFill>
                <a:latin typeface="Segoe UI"/>
              </a:defRPr>
            </a:pPr>
            <a:r>
              <a:t>  Covers ALL gaps above in one platform.</a:t>
            </a:r>
          </a:p>
          <a:p>
            <a:pPr>
              <a:spcAft>
                <a:spcPts val="200"/>
              </a:spcAft>
              <a:defRPr sz="400" b="0">
                <a:solidFill>
                  <a:srgbClr val="94A3B8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1100" b="0">
                <a:solidFill>
                  <a:srgbClr val="64748B"/>
                </a:solidFill>
                <a:latin typeface="Segoe UI"/>
              </a:defRPr>
            </a:pPr>
            <a:r>
              <a:t>Clients spend $200-500K/yr on 3-4 tools and STILL</a:t>
            </a:r>
          </a:p>
          <a:p>
            <a:pPr>
              <a:spcAft>
                <a:spcPts val="200"/>
              </a:spcAft>
              <a:defRPr sz="1100" b="0">
                <a:solidFill>
                  <a:srgbClr val="64748B"/>
                </a:solidFill>
                <a:latin typeface="Segoe UI"/>
              </a:defRPr>
            </a:pPr>
            <a:r>
              <a:t>find gaps in audit. KAVACH replaces them all.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08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18CF8"/>
                </a:solidFill>
                <a:latin typeface="Segoe UI"/>
              </a:defRPr>
            </a:pPr>
            <a:r>
              <a:t>ADAPTABILITY - ZERO CODE CHANGES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8FAFC"/>
                </a:solidFill>
                <a:latin typeface="Segoe UI"/>
              </a:defRPr>
            </a:pPr>
            <a:r>
              <a:t>New Regulation Drops? KAVACH Adapts Instantly.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Traditional: weeks/months to implement new framework.  KAVACH: paste regulation text -&gt; enforced in seconds.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5303520" cy="4389120"/>
          </a:xfrm>
          <a:prstGeom prst="roundRect">
            <a:avLst/>
          </a:prstGeom>
          <a:solidFill>
            <a:srgbClr val="161B30"/>
          </a:solidFill>
          <a:ln w="190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A5B4FC"/>
                </a:solidFill>
                <a:latin typeface="Segoe UI"/>
              </a:defRPr>
            </a:pPr>
            <a:r>
              <a:t>How It Works - Real Example</a:t>
            </a:r>
          </a:p>
          <a:p>
            <a:pPr>
              <a:spcAft>
                <a:spcPts val="200"/>
              </a:spcAft>
              <a:defRPr sz="400" b="0">
                <a:solidFill>
                  <a:srgbClr val="94A3B8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1200" b="0">
                <a:solidFill>
                  <a:srgbClr val="94A3B8"/>
                </a:solidFill>
                <a:latin typeface="Segoe UI"/>
              </a:defRPr>
            </a:pPr>
            <a:r>
              <a:t>Scenario: DORA regulation takes effect. Client EuroLend</a:t>
            </a:r>
          </a:p>
          <a:p>
            <a:pPr>
              <a:spcAft>
                <a:spcPts val="200"/>
              </a:spcAft>
              <a:defRPr sz="1200" b="0">
                <a:solidFill>
                  <a:srgbClr val="94A3B8"/>
                </a:solidFill>
                <a:latin typeface="Segoe UI"/>
              </a:defRPr>
            </a:pPr>
            <a:r>
              <a:t>is now subject to it. Enforce it TODAY.</a:t>
            </a:r>
          </a:p>
          <a:p>
            <a:pPr>
              <a:spcAft>
                <a:spcPts val="200"/>
              </a:spcAft>
              <a:defRPr sz="600" b="0">
                <a:solidFill>
                  <a:srgbClr val="94A3B8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1300" b="1">
                <a:solidFill>
                  <a:srgbClr val="F8FAFC"/>
                </a:solidFill>
                <a:latin typeface="Segoe UI"/>
              </a:defRPr>
            </a:pPr>
            <a:r>
              <a:t>1. Compliance officer pastes regulation text</a:t>
            </a:r>
          </a:p>
          <a:p>
            <a:pPr>
              <a:spcAft>
                <a:spcPts val="20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   Copies Article 19 directly from DORA - no formatting</a:t>
            </a:r>
          </a:p>
          <a:p>
            <a:pPr>
              <a:spcAft>
                <a:spcPts val="200"/>
              </a:spcAft>
              <a:defRPr sz="400" b="0">
                <a:solidFill>
                  <a:srgbClr val="94A3B8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1300" b="1">
                <a:solidFill>
                  <a:srgbClr val="F8FAFC"/>
                </a:solidFill>
                <a:latin typeface="Segoe UI"/>
              </a:defRPr>
            </a:pPr>
            <a:r>
              <a:t>2. Our LLM reads and understands legal language</a:t>
            </a:r>
          </a:p>
          <a:p>
            <a:pPr>
              <a:spcAft>
                <a:spcPts val="20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   Determines: CRITICAL, REGULATORY, 4h SLA, blocking</a:t>
            </a:r>
          </a:p>
          <a:p>
            <a:pPr>
              <a:spcAft>
                <a:spcPts val="200"/>
              </a:spcAft>
              <a:defRPr sz="400" b="0">
                <a:solidFill>
                  <a:srgbClr val="94A3B8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1300" b="1">
                <a:solidFill>
                  <a:srgbClr val="F8FAFC"/>
                </a:solidFill>
                <a:latin typeface="Segoe UI"/>
              </a:defRPr>
            </a:pPr>
            <a:r>
              <a:t>3. Policy added to live engine - immediately active</a:t>
            </a:r>
          </a:p>
          <a:p>
            <a:pPr>
              <a:spcAft>
                <a:spcPts val="20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   No developer, no code change, no restart.</a:t>
            </a:r>
          </a:p>
          <a:p>
            <a:pPr>
              <a:spcAft>
                <a:spcPts val="200"/>
              </a:spcAft>
              <a:defRPr sz="600" b="0">
                <a:solidFill>
                  <a:srgbClr val="94A3B8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1300" b="1">
                <a:solidFill>
                  <a:srgbClr val="34D399"/>
                </a:solidFill>
                <a:latin typeface="Segoe UI"/>
              </a:defRPr>
            </a:pPr>
            <a:r>
              <a:t>Time: regulation published -&gt; enforced = MINUTES</a:t>
            </a:r>
          </a:p>
          <a:p>
            <a:pPr>
              <a:spcAft>
                <a:spcPts val="200"/>
              </a:spcAft>
              <a:defRPr sz="400" b="0">
                <a:solidFill>
                  <a:srgbClr val="94A3B8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1100" b="0">
                <a:solidFill>
                  <a:srgbClr val="64748B"/>
                </a:solidFill>
                <a:latin typeface="Segoe UI"/>
              </a:defRPr>
            </a:pPr>
            <a:r>
              <a:t>Works for ANY industry:</a:t>
            </a:r>
          </a:p>
          <a:p>
            <a:pPr>
              <a:spcAft>
                <a:spcPts val="200"/>
              </a:spcAft>
              <a:defRPr sz="1000" b="0">
                <a:solidFill>
                  <a:srgbClr val="64748B"/>
                </a:solidFill>
                <a:latin typeface="Segoe UI"/>
              </a:defRPr>
            </a:pPr>
            <a:r>
              <a:t>Mortgage (SOX, TILA) | Healthcare (HIPAA) | Insurance</a:t>
            </a:r>
          </a:p>
          <a:p>
            <a:pPr>
              <a:spcAft>
                <a:spcPts val="200"/>
              </a:spcAft>
              <a:defRPr sz="1000" b="0">
                <a:solidFill>
                  <a:srgbClr val="64748B"/>
                </a:solidFill>
                <a:latin typeface="Segoe UI"/>
              </a:defRPr>
            </a:pPr>
            <a:r>
              <a:t>Retail (PCI-DSS) | Airlines (FAA) | Public (FedRAMP)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920240"/>
            <a:ext cx="5303520" cy="4389120"/>
          </a:xfrm>
          <a:prstGeom prst="roundRect">
            <a:avLst/>
          </a:prstGeom>
          <a:solidFill>
            <a:srgbClr val="161B30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210312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F8FAFC"/>
                </a:solidFill>
                <a:latin typeface="Segoe UI"/>
              </a:defRPr>
            </a:pPr>
            <a:r>
              <a:t>What Happens Under the Hood</a:t>
            </a:r>
          </a:p>
          <a:p>
            <a:pPr>
              <a:spcAft>
                <a:spcPts val="200"/>
              </a:spcAft>
              <a:defRPr sz="400" b="0">
                <a:solidFill>
                  <a:srgbClr val="94A3B8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1200" b="0">
                <a:solidFill>
                  <a:srgbClr val="94A3B8"/>
                </a:solidFill>
                <a:latin typeface="Segoe UI"/>
              </a:defRPr>
            </a:pPr>
            <a:r>
              <a:t>Compliance officer pastes DORA Article 19 (legal text).</a:t>
            </a:r>
          </a:p>
          <a:p>
            <a:pPr>
              <a:spcAft>
                <a:spcPts val="200"/>
              </a:spcAft>
              <a:defRPr sz="1200" b="0">
                <a:solidFill>
                  <a:srgbClr val="94A3B8"/>
                </a:solidFill>
                <a:latin typeface="Segoe UI"/>
              </a:defRPr>
            </a:pPr>
            <a:r>
              <a:t>LLM asks: What type? How severe? What triggers? Block?</a:t>
            </a:r>
          </a:p>
          <a:p>
            <a:pPr>
              <a:spcAft>
                <a:spcPts val="200"/>
              </a:spcAft>
              <a:defRPr sz="600" b="0">
                <a:solidFill>
                  <a:srgbClr val="94A3B8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1200" b="1">
                <a:solidFill>
                  <a:srgbClr val="F87171"/>
                </a:solidFill>
                <a:latin typeface="Segoe UI"/>
              </a:defRPr>
            </a:pPr>
            <a:r>
              <a:t>INPUT (Legal Text):</a:t>
            </a:r>
          </a:p>
          <a:p>
            <a:pPr>
              <a:spcAft>
                <a:spcPts val="20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"Financial entities shall report major ICT incidents</a:t>
            </a:r>
          </a:p>
          <a:p>
            <a:pPr>
              <a:spcAft>
                <a:spcPts val="20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 to competent authority within 4 hours..."</a:t>
            </a:r>
          </a:p>
          <a:p>
            <a:pPr>
              <a:spcAft>
                <a:spcPts val="200"/>
              </a:spcAft>
              <a:defRPr sz="400" b="0">
                <a:solidFill>
                  <a:srgbClr val="94A3B8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1200" b="1">
                <a:solidFill>
                  <a:srgbClr val="34D399"/>
                </a:solidFill>
                <a:latin typeface="Segoe UI"/>
              </a:defRPr>
            </a:pPr>
            <a:r>
              <a:t>OUTPUT (Enforceable Policy):</a:t>
            </a:r>
          </a:p>
          <a:p>
            <a:pPr>
              <a:spcAft>
                <a:spcPts val="20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  Domain: REGULATORY</a:t>
            </a:r>
          </a:p>
          <a:p>
            <a:pPr>
              <a:spcAft>
                <a:spcPts val="20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  Severity: CRITICAL</a:t>
            </a:r>
          </a:p>
          <a:p>
            <a:pPr>
              <a:spcAft>
                <a:spcPts val="20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  SLA: 4 hours</a:t>
            </a:r>
          </a:p>
          <a:p>
            <a:pPr>
              <a:spcAft>
                <a:spcPts val="20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  Blocking: Yes</a:t>
            </a:r>
          </a:p>
          <a:p>
            <a:pPr>
              <a:spcAft>
                <a:spcPts val="200"/>
              </a:spcAft>
              <a:defRPr sz="600" b="0">
                <a:solidFill>
                  <a:srgbClr val="94A3B8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1200" b="1">
                <a:solidFill>
                  <a:srgbClr val="A5B4FC"/>
                </a:solidFill>
                <a:latin typeface="Segoe UI"/>
              </a:defRPr>
            </a:pPr>
            <a:r>
              <a:t>Business impact for Hexaware:</a:t>
            </a:r>
          </a:p>
          <a:p>
            <a:pPr>
              <a:spcAft>
                <a:spcPts val="200"/>
              </a:spcAft>
              <a:defRPr sz="1100" b="0">
                <a:solidFill>
                  <a:srgbClr val="F8FAFC"/>
                </a:solidFill>
                <a:latin typeface="Segoe UI"/>
              </a:defRPr>
            </a:pPr>
            <a:r>
              <a:t>  Client adopts framework -&gt; enforce same day</a:t>
            </a:r>
          </a:p>
          <a:p>
            <a:pPr>
              <a:spcAft>
                <a:spcPts val="200"/>
              </a:spcAft>
              <a:defRPr sz="1100" b="0">
                <a:solidFill>
                  <a:srgbClr val="F8FAFC"/>
                </a:solidFill>
                <a:latin typeface="Segoe UI"/>
              </a:defRPr>
            </a:pPr>
            <a:r>
              <a:t>  No developer sprint -&gt; saves 2-4 weeks</a:t>
            </a:r>
          </a:p>
          <a:p>
            <a:pPr>
              <a:spcAft>
                <a:spcPts val="200"/>
              </a:spcAft>
              <a:defRPr sz="1100" b="0">
                <a:solidFill>
                  <a:srgbClr val="F8FAFC"/>
                </a:solidFill>
                <a:latin typeface="Segoe UI"/>
              </a:defRPr>
            </a:pPr>
            <a:r>
              <a:t>  Compliance team self-serves -&gt; no eng dependency</a:t>
            </a:r>
          </a:p>
          <a:p>
            <a:pPr>
              <a:spcAft>
                <a:spcPts val="200"/>
              </a:spcAft>
              <a:defRPr sz="1100" b="0">
                <a:solidFill>
                  <a:srgbClr val="F8FAFC"/>
                </a:solidFill>
                <a:latin typeface="Segoe UI"/>
              </a:defRPr>
            </a:pPr>
            <a:r>
              <a:t>  Scales to 100+ clients with different frameworks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09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18CF8"/>
                </a:solidFill>
                <a:latin typeface="Segoe UI"/>
              </a:defRPr>
            </a:pPr>
            <a:r>
              <a:t>BUSINESS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8FAFC"/>
                </a:solidFill>
                <a:latin typeface="Segoe UI"/>
              </a:defRPr>
            </a:pPr>
            <a:r>
              <a:t>Value for Hexaware &amp; Clients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303520" cy="4754880"/>
          </a:xfrm>
          <a:prstGeom prst="roundRect">
            <a:avLst/>
          </a:prstGeom>
          <a:solidFill>
            <a:srgbClr val="161B30"/>
          </a:solidFill>
          <a:ln w="190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A5B4FC"/>
                </a:solidFill>
                <a:latin typeface="Segoe UI"/>
              </a:defRPr>
            </a:pPr>
            <a:r>
              <a:t>Quantified Value - How We Calculated</a:t>
            </a:r>
          </a:p>
          <a:p>
            <a:pPr>
              <a:spcAft>
                <a:spcPts val="200"/>
              </a:spcAft>
              <a:defRPr sz="600" b="0">
                <a:solidFill>
                  <a:srgbClr val="94A3B8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1400" b="1">
                <a:solidFill>
                  <a:srgbClr val="A5B4FC"/>
                </a:solidFill>
                <a:latin typeface="Segoe UI"/>
              </a:defRPr>
            </a:pPr>
            <a:r>
              <a:t>70% Audit Prep Time Saved</a:t>
            </a:r>
          </a:p>
          <a:p>
            <a:pPr>
              <a:spcAft>
                <a:spcPts val="20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Auditors spend 3-4 weeks collecting evidence. KAVACH</a:t>
            </a:r>
          </a:p>
          <a:p>
            <a:pPr>
              <a:spcAft>
                <a:spcPts val="20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generates it continuously. Auditors walk in -&gt; done.</a:t>
            </a:r>
          </a:p>
          <a:p>
            <a:pPr>
              <a:spcAft>
                <a:spcPts val="200"/>
              </a:spcAft>
              <a:defRPr sz="400" b="0">
                <a:solidFill>
                  <a:srgbClr val="94A3B8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1400" b="1">
                <a:solidFill>
                  <a:srgbClr val="34D399"/>
                </a:solidFill>
                <a:latin typeface="Segoe UI"/>
              </a:defRPr>
            </a:pPr>
            <a:r>
              <a:t>$2-4M Annual Savings</a:t>
            </a:r>
          </a:p>
          <a:p>
            <a:pPr>
              <a:spcAft>
                <a:spcPts val="20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Audit prep labor ($1.2M) + penalty avoidance ($800K)</a:t>
            </a:r>
          </a:p>
          <a:p>
            <a:pPr>
              <a:spcAft>
                <a:spcPts val="20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+ reduced headcount (3-4 FTEs) + tool consolidation.</a:t>
            </a:r>
          </a:p>
          <a:p>
            <a:pPr>
              <a:spcAft>
                <a:spcPts val="200"/>
              </a:spcAft>
              <a:defRPr sz="400" b="0">
                <a:solidFill>
                  <a:srgbClr val="94A3B8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1400" b="1">
                <a:solidFill>
                  <a:srgbClr val="FBBF24"/>
                </a:solidFill>
                <a:latin typeface="Segoe UI"/>
              </a:defRPr>
            </a:pPr>
            <a:r>
              <a:t>$50K+ Penalty Avoided Per Incident</a:t>
            </a:r>
          </a:p>
          <a:p>
            <a:pPr>
              <a:spcAft>
                <a:spcPts val="20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MSA 7.2: $50K per critical not fixed in 48h.</a:t>
            </a:r>
          </a:p>
          <a:p>
            <a:pPr>
              <a:spcAft>
                <a:spcPts val="20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Avg client: 5-10 criticals/yr. 2-3 breach SLA = $100-150K.</a:t>
            </a:r>
          </a:p>
          <a:p>
            <a:pPr>
              <a:spcAft>
                <a:spcPts val="200"/>
              </a:spcAft>
              <a:defRPr sz="400" b="0">
                <a:solidFill>
                  <a:srgbClr val="94A3B8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1400" b="1">
                <a:solidFill>
                  <a:srgbClr val="F87171"/>
                </a:solidFill>
                <a:latin typeface="Segoe UI"/>
              </a:defRPr>
            </a:pPr>
            <a:r>
              <a:t>&lt;2 Second Analysis Time</a:t>
            </a:r>
          </a:p>
          <a:p>
            <a:pPr>
              <a:spcAft>
                <a:spcPts val="20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Current: compliance reviews 2-5 days after deploy.</a:t>
            </a:r>
          </a:p>
          <a:p>
            <a:pPr>
              <a:spcAft>
                <a:spcPts val="20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KAVACH: at commit time. 6 domains in under 2 seconds.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303520" cy="4754880"/>
          </a:xfrm>
          <a:prstGeom prst="roundRect">
            <a:avLst/>
          </a:prstGeom>
          <a:solidFill>
            <a:srgbClr val="161B30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8288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34D399"/>
                </a:solidFill>
                <a:latin typeface="Segoe UI"/>
              </a:defRPr>
            </a:pPr>
            <a:r>
              <a:t>Why This Wins - Competitive Advantage</a:t>
            </a:r>
          </a:p>
          <a:p>
            <a:pPr>
              <a:spcAft>
                <a:spcPts val="200"/>
              </a:spcAft>
              <a:defRPr sz="600" b="0">
                <a:solidFill>
                  <a:srgbClr val="94A3B8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1300" b="1">
                <a:solidFill>
                  <a:srgbClr val="A5B4FC"/>
                </a:solidFill>
                <a:latin typeface="Segoe UI"/>
              </a:defRPr>
            </a:pPr>
            <a:r>
              <a:t>Own LLM</a:t>
            </a:r>
          </a:p>
          <a:p>
            <a:pPr>
              <a:spcAft>
                <a:spcPts val="20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Client code never leaves our infra. Model improves</a:t>
            </a:r>
          </a:p>
          <a:p>
            <a:pPr>
              <a:spcAft>
                <a:spcPts val="20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with every engagement - compounding advantage.</a:t>
            </a:r>
          </a:p>
          <a:p>
            <a:pPr>
              <a:spcAft>
                <a:spcPts val="200"/>
              </a:spcAft>
              <a:defRPr sz="400" b="0">
                <a:solidFill>
                  <a:srgbClr val="94A3B8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1300" b="1">
                <a:solidFill>
                  <a:srgbClr val="A5B4FC"/>
                </a:solidFill>
                <a:latin typeface="Segoe UI"/>
              </a:defRPr>
            </a:pPr>
            <a:r>
              <a:t>Graph RAG + Multi-Agent</a:t>
            </a:r>
          </a:p>
          <a:p>
            <a:pPr>
              <a:spcAft>
                <a:spcPts val="20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5 agents + knowledge graph. One finding traces impact</a:t>
            </a:r>
          </a:p>
          <a:p>
            <a:pPr>
              <a:spcAft>
                <a:spcPts val="20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across SOX + Security + TILA + ECOA + PCI + Contract.</a:t>
            </a:r>
          </a:p>
          <a:p>
            <a:pPr>
              <a:spcAft>
                <a:spcPts val="200"/>
              </a:spcAft>
              <a:defRPr sz="400" b="0">
                <a:solidFill>
                  <a:srgbClr val="94A3B8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1300" b="1">
                <a:solidFill>
                  <a:srgbClr val="A5B4FC"/>
                </a:solidFill>
                <a:latin typeface="Segoe UI"/>
              </a:defRPr>
            </a:pPr>
            <a:r>
              <a:t>Domain-Agnostic / Per-Engagement</a:t>
            </a:r>
          </a:p>
          <a:p>
            <a:pPr>
              <a:spcAft>
                <a:spcPts val="20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Same platform: mortgage, healthcare, retail, airlines.</a:t>
            </a:r>
          </a:p>
          <a:p>
            <a:pPr>
              <a:spcAft>
                <a:spcPts val="20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Each client gets own compliance profile.</a:t>
            </a:r>
          </a:p>
          <a:p>
            <a:pPr>
              <a:spcAft>
                <a:spcPts val="200"/>
              </a:spcAft>
              <a:defRPr sz="400" b="0">
                <a:solidFill>
                  <a:srgbClr val="94A3B8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1300" b="1">
                <a:solidFill>
                  <a:srgbClr val="A5B4FC"/>
                </a:solidFill>
                <a:latin typeface="Segoe UI"/>
              </a:defRPr>
            </a:pPr>
            <a:r>
              <a:t>Predictive, Not Reactive</a:t>
            </a:r>
          </a:p>
          <a:p>
            <a:pPr>
              <a:spcAft>
                <a:spcPts val="20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Blocks violations at commit time. Auditors find zero</a:t>
            </a:r>
          </a:p>
          <a:p>
            <a:pPr>
              <a:spcAft>
                <a:spcPts val="20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surprises because system already enforced every control.</a:t>
            </a:r>
          </a:p>
          <a:p>
            <a:pPr>
              <a:spcAft>
                <a:spcPts val="200"/>
              </a:spcAft>
              <a:defRPr sz="600" b="0">
                <a:solidFill>
                  <a:srgbClr val="94A3B8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1600" b="1">
                <a:solidFill>
                  <a:srgbClr val="818CF8"/>
                </a:solidFill>
                <a:latin typeface="Segoe UI"/>
              </a:defRPr>
            </a:pPr>
            <a:r>
              <a:t>KAVACH AI</a:t>
            </a:r>
          </a:p>
          <a:p>
            <a:pPr>
              <a:spcAft>
                <a:spcPts val="200"/>
              </a:spcAft>
              <a:defRPr sz="1200" b="0">
                <a:solidFill>
                  <a:srgbClr val="64748B"/>
                </a:solidFill>
                <a:latin typeface="Segoe UI"/>
              </a:defRPr>
            </a:pPr>
            <a:r>
              <a:t>"One commit. Six domains. Zero breaches."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