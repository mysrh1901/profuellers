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media/image1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0" r:id="rId2"/>
  </p:sldMasterIdLst>
  <p:notesMasterIdLst>
    <p:notesMasterId r:id="rId4"/>
  </p:notesMasterIdLst>
  <p:handoutMasterIdLst>
    <p:handoutMasterId r:id="rId5"/>
  </p:handoutMasterIdLst>
  <p:sldIdLst>
    <p:sldId id="256" r:id="rId3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2CDA"/>
    <a:srgbClr val="CBD0E5"/>
    <a:srgbClr val="271FC1"/>
    <a:srgbClr val="08126E"/>
    <a:srgbClr val="281DBB"/>
    <a:srgbClr val="EEEFF4"/>
    <a:srgbClr val="EEF2F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82B791-20A5-B446-ACC9-B4589323120C}" v="27" dt="2023-12-01T20:44:35.066"/>
    <p1510:client id="{C3A708A2-1EDF-4C05-9204-527331697EE7}" v="194" dt="2023-12-01T20:29:15.4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4710"/>
  </p:normalViewPr>
  <p:slideViewPr>
    <p:cSldViewPr snapToGrid="0">
      <p:cViewPr varScale="1">
        <p:scale>
          <a:sx n="70" d="100"/>
          <a:sy n="70" d="100"/>
        </p:scale>
        <p:origin x="45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6" d="100"/>
          <a:sy n="126" d="100"/>
        </p:scale>
        <p:origin x="3808" y="20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5/10/relationships/revisionInfo" Target="revisionInfo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11B2259-9883-6F94-1165-B4F149D9100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C2DFEC-917D-E7FD-8926-11E6D834EB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3DF90-B6E1-4448-A065-6EC0CBAAEE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588B84-9FF3-B2B6-03B4-760A9E1406F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4CFA06-FBBA-EA5B-5C6A-264498FA20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F99D79-6FE1-1B41-9FA7-F185D9BA7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8755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anrope" pitchFamily="2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anrope" pitchFamily="2" charset="0"/>
              </a:defRPr>
            </a:lvl1pPr>
          </a:lstStyle>
          <a:p>
            <a:fld id="{ECAE251F-E50B-4AA0-A361-BF69B56A7095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anrope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anrope" pitchFamily="2" charset="0"/>
              </a:defRPr>
            </a:lvl1pPr>
          </a:lstStyle>
          <a:p>
            <a:fld id="{331CD59D-0597-43DC-9404-9BA5D1B501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819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anrope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anrope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anrope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anrope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anrope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Light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4945255-4D54-BD6F-F948-3B2AF5A407A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 anchorCtr="1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Replace with brand-approved image </a:t>
            </a:r>
            <a:br>
              <a:rPr lang="en-US" dirty="0"/>
            </a:br>
            <a:r>
              <a:rPr lang="en-US" dirty="0"/>
              <a:t>of your choice from </a:t>
            </a:r>
            <a:r>
              <a:rPr lang="en-US" dirty="0" err="1"/>
              <a:t>SalesCentral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C519BD3-2A15-83F6-8541-93001D69D1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731098"/>
            <a:ext cx="1554480" cy="208656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D0E6E8BE-2736-1222-838E-6E63376063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960" y="3108960"/>
            <a:ext cx="5105400" cy="623248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>
              <a:defRPr lang="en-US" sz="45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4007845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  <p15:guide id="4" orient="horz" pos="232">
          <p15:clr>
            <a:srgbClr val="FBAE40"/>
          </p15:clr>
        </p15:guide>
        <p15:guide id="5" orient="horz" pos="57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EF71674-9144-08B7-A17A-3B084A2CE560}"/>
              </a:ext>
            </a:extLst>
          </p:cNvPr>
          <p:cNvSpPr txBox="1">
            <a:spLocks/>
          </p:cNvSpPr>
          <p:nvPr userDrawn="1"/>
        </p:nvSpPr>
        <p:spPr>
          <a:xfrm>
            <a:off x="11568055" y="6453188"/>
            <a:ext cx="2705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39601925-951F-4EA8-91E5-A517312BFAAA}" type="slidenum">
              <a:rPr lang="en-US" sz="900" smtClean="0">
                <a:solidFill>
                  <a:schemeClr val="tx1"/>
                </a:solidFill>
                <a:latin typeface="+mn-lt"/>
              </a:rPr>
              <a:pPr lvl="0" algn="r"/>
              <a:t>‹#›</a:t>
            </a:fld>
            <a:endParaRPr lang="en-US" sz="9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1A92E810-A64D-864A-E713-F5B7065D4E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623888" y="457200"/>
            <a:ext cx="8172450" cy="244101"/>
          </a:xfrm>
          <a:prstGeom prst="rect">
            <a:avLst/>
          </a:prstGeom>
        </p:spPr>
        <p:txBody>
          <a:bodyPr wrap="square" lIns="0" tIns="36000" rIns="0" bIns="0" anchor="t" anchorCtr="0">
            <a:spAutoFit/>
          </a:bodyPr>
          <a:lstStyle>
            <a:lvl1pPr marL="0" indent="0">
              <a:buNone/>
              <a:defRPr lang="en-US" sz="15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Deck Title/Main Idea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F7FFEB-A63D-7128-BD14-C91E8A94E52A}"/>
              </a:ext>
            </a:extLst>
          </p:cNvPr>
          <p:cNvSpPr txBox="1"/>
          <p:nvPr userDrawn="1"/>
        </p:nvSpPr>
        <p:spPr>
          <a:xfrm>
            <a:off x="623888" y="6453188"/>
            <a:ext cx="278121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spc="50" baseline="0" dirty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Heebo" pitchFamily="2" charset="-79"/>
              </a:rPr>
              <a:t>© Hexaware Technologies. Confidential briefing. </a:t>
            </a:r>
            <a:endParaRPr lang="en-US" sz="700" kern="0" spc="50" baseline="0" dirty="0">
              <a:solidFill>
                <a:schemeClr val="accent5">
                  <a:lumMod val="75000"/>
                </a:schemeClr>
              </a:solidFill>
              <a:latin typeface="+mn-lt"/>
              <a:ea typeface="+mn-ea"/>
              <a:cs typeface="Heebo" pitchFamily="2" charset="-79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A3895CC-568A-639E-289C-349CD49C43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7328" y="345760"/>
            <a:ext cx="914400" cy="12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428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 userDrawn="1">
          <p15:clr>
            <a:srgbClr val="FBAE40"/>
          </p15:clr>
        </p15:guide>
        <p15:guide id="2" pos="393" userDrawn="1">
          <p15:clr>
            <a:srgbClr val="FBAE40"/>
          </p15:clr>
        </p15:guide>
        <p15:guide id="3" pos="7287" userDrawn="1">
          <p15:clr>
            <a:srgbClr val="FBAE40"/>
          </p15:clr>
        </p15:guide>
        <p15:guide id="4" orient="horz" pos="232" userDrawn="1">
          <p15:clr>
            <a:srgbClr val="FBAE40"/>
          </p15:clr>
        </p15:guide>
        <p15:guide id="5" orient="horz" pos="57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 with 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8A799FA-C73D-ED39-C551-268E9A6FE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908050"/>
            <a:ext cx="5307012" cy="3046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2200" dirty="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A554E1C-C3D3-0AA0-1FE5-E52D3268E9F6}"/>
              </a:ext>
            </a:extLst>
          </p:cNvPr>
          <p:cNvSpPr txBox="1">
            <a:spLocks/>
          </p:cNvSpPr>
          <p:nvPr userDrawn="1"/>
        </p:nvSpPr>
        <p:spPr>
          <a:xfrm>
            <a:off x="11567160" y="6453188"/>
            <a:ext cx="2705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39601925-951F-4EA8-91E5-A517312BFAAA}" type="slidenum">
              <a:rPr lang="en-US" sz="900" smtClean="0">
                <a:solidFill>
                  <a:schemeClr val="tx1"/>
                </a:solidFill>
                <a:latin typeface="+mn-lt"/>
              </a:rPr>
              <a:pPr lvl="0" algn="r"/>
              <a:t>‹#›</a:t>
            </a:fld>
            <a:endParaRPr lang="en-US" sz="9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07CFC0FC-EE3C-B83B-D888-70A4672B3C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623888" y="457200"/>
            <a:ext cx="8172450" cy="244101"/>
          </a:xfrm>
          <a:prstGeom prst="rect">
            <a:avLst/>
          </a:prstGeom>
        </p:spPr>
        <p:txBody>
          <a:bodyPr wrap="square" lIns="0" tIns="36000" rIns="0" bIns="0" anchor="t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5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85750" lvl="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Deck Title/Main Idea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FC992F-4FDC-3A9F-0EA2-73D4A2F79EB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7328" y="345760"/>
            <a:ext cx="914400" cy="1227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CA7A7A-3891-B974-5E27-533BA0B03D1B}"/>
              </a:ext>
            </a:extLst>
          </p:cNvPr>
          <p:cNvSpPr txBox="1"/>
          <p:nvPr userDrawn="1"/>
        </p:nvSpPr>
        <p:spPr>
          <a:xfrm>
            <a:off x="623888" y="6453188"/>
            <a:ext cx="278121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spc="50" baseline="0" dirty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Heebo" pitchFamily="2" charset="-79"/>
              </a:rPr>
              <a:t>© Hexaware Technologies. Confidential briefing. </a:t>
            </a:r>
            <a:endParaRPr lang="en-US" sz="700" kern="0" spc="50" baseline="0" dirty="0">
              <a:solidFill>
                <a:schemeClr val="accent5">
                  <a:lumMod val="75000"/>
                </a:schemeClr>
              </a:solidFill>
              <a:latin typeface="+mn-lt"/>
              <a:ea typeface="+mn-ea"/>
              <a:cs typeface="Heebo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296452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 userDrawn="1">
          <p15:clr>
            <a:srgbClr val="FBAE40"/>
          </p15:clr>
        </p15:guide>
        <p15:guide id="2" pos="393" userDrawn="1">
          <p15:clr>
            <a:srgbClr val="FBAE40"/>
          </p15:clr>
        </p15:guide>
        <p15:guide id="3" pos="7287" userDrawn="1">
          <p15:clr>
            <a:srgbClr val="FBAE40"/>
          </p15:clr>
        </p15:guide>
        <p15:guide id="4" orient="horz" pos="232" userDrawn="1">
          <p15:clr>
            <a:srgbClr val="FBAE40"/>
          </p15:clr>
        </p15:guide>
        <p15:guide id="5" orient="horz" pos="57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8A799FA-C73D-ED39-C551-268E9A6FE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908050"/>
            <a:ext cx="5307012" cy="3046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2200" dirty="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A554E1C-C3D3-0AA0-1FE5-E52D3268E9F6}"/>
              </a:ext>
            </a:extLst>
          </p:cNvPr>
          <p:cNvSpPr txBox="1">
            <a:spLocks/>
          </p:cNvSpPr>
          <p:nvPr userDrawn="1"/>
        </p:nvSpPr>
        <p:spPr>
          <a:xfrm>
            <a:off x="11567160" y="6453188"/>
            <a:ext cx="2705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39601925-951F-4EA8-91E5-A517312BFAAA}" type="slidenum">
              <a:rPr lang="en-US" sz="900" smtClean="0">
                <a:solidFill>
                  <a:schemeClr val="tx1"/>
                </a:solidFill>
                <a:latin typeface="+mn-lt"/>
              </a:rPr>
              <a:pPr lvl="0" algn="r"/>
              <a:t>‹#›</a:t>
            </a:fld>
            <a:endParaRPr lang="en-US" sz="9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07CFC0FC-EE3C-B83B-D888-70A4672B3C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623888" y="457200"/>
            <a:ext cx="5307012" cy="244101"/>
          </a:xfrm>
          <a:prstGeom prst="rect">
            <a:avLst/>
          </a:prstGeom>
        </p:spPr>
        <p:txBody>
          <a:bodyPr wrap="square" lIns="0" tIns="36000" rIns="0" bIns="0" anchor="t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5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85750" lvl="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Deck Title/Main Idea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CA7A7A-3891-B974-5E27-533BA0B03D1B}"/>
              </a:ext>
            </a:extLst>
          </p:cNvPr>
          <p:cNvSpPr txBox="1"/>
          <p:nvPr userDrawn="1"/>
        </p:nvSpPr>
        <p:spPr>
          <a:xfrm>
            <a:off x="623888" y="6453188"/>
            <a:ext cx="278121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spc="50" baseline="0" dirty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Heebo" pitchFamily="2" charset="-79"/>
              </a:rPr>
              <a:t>© Hexaware Technologies. Confidential briefing. </a:t>
            </a:r>
            <a:endParaRPr lang="en-US" sz="700" kern="0" spc="50" baseline="0" dirty="0">
              <a:solidFill>
                <a:schemeClr val="accent5">
                  <a:lumMod val="75000"/>
                </a:schemeClr>
              </a:solidFill>
              <a:latin typeface="+mn-lt"/>
              <a:ea typeface="+mn-ea"/>
              <a:cs typeface="Heebo" pitchFamily="2" charset="-79"/>
            </a:endParaRP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E0C4611E-F017-7C1D-2FF4-E1E27846092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75388" y="0"/>
            <a:ext cx="5916612" cy="6858000"/>
          </a:xfrm>
          <a:prstGeom prst="rect">
            <a:avLst/>
          </a:prstGeom>
        </p:spPr>
        <p:txBody>
          <a:bodyPr lIns="0" tIns="0" rIns="0" bIns="0" anchor="ctr" anchorCtr="1"/>
          <a:lstStyle>
            <a:lvl1pPr marL="0" indent="0">
              <a:lnSpc>
                <a:spcPct val="100000"/>
              </a:lnSpc>
              <a:buNone/>
              <a:defRPr lang="en-US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Replace image </a:t>
            </a:r>
            <a:br>
              <a:rPr lang="en-US" dirty="0"/>
            </a:br>
            <a:r>
              <a:rPr lang="en-US" dirty="0"/>
              <a:t>of your choice</a:t>
            </a:r>
          </a:p>
        </p:txBody>
      </p:sp>
    </p:spTree>
    <p:extLst>
      <p:ext uri="{BB962C8B-B14F-4D97-AF65-F5344CB8AC3E}">
        <p14:creationId xmlns:p14="http://schemas.microsoft.com/office/powerpoint/2010/main" val="1008626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 userDrawn="1">
          <p15:clr>
            <a:srgbClr val="FBAE40"/>
          </p15:clr>
        </p15:guide>
        <p15:guide id="2" pos="393" userDrawn="1">
          <p15:clr>
            <a:srgbClr val="FBAE40"/>
          </p15:clr>
        </p15:guide>
        <p15:guide id="3" pos="7287" userDrawn="1">
          <p15:clr>
            <a:srgbClr val="FBAE40"/>
          </p15:clr>
        </p15:guide>
        <p15:guide id="4" orient="horz" pos="232" userDrawn="1">
          <p15:clr>
            <a:srgbClr val="FBAE40"/>
          </p15:clr>
        </p15:guide>
        <p15:guide id="5" orient="horz" pos="57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 with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E0C4611E-F017-7C1D-2FF4-E1E27846092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5916612" cy="6858000"/>
          </a:xfrm>
          <a:prstGeom prst="rect">
            <a:avLst/>
          </a:prstGeom>
        </p:spPr>
        <p:txBody>
          <a:bodyPr lIns="0" tIns="0" rIns="0" bIns="0" anchor="ctr" anchorCtr="1"/>
          <a:lstStyle>
            <a:lvl1pPr marL="0" indent="0">
              <a:lnSpc>
                <a:spcPct val="100000"/>
              </a:lnSpc>
              <a:buNone/>
              <a:defRPr lang="en-US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Replace image </a:t>
            </a:r>
            <a:br>
              <a:rPr lang="en-US" dirty="0"/>
            </a:br>
            <a:r>
              <a:rPr lang="en-US" dirty="0"/>
              <a:t>of your choice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A799FA-C73D-ED39-C551-268E9A6FE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5300" y="908050"/>
            <a:ext cx="5307012" cy="3046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2200" dirty="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A554E1C-C3D3-0AA0-1FE5-E52D3268E9F6}"/>
              </a:ext>
            </a:extLst>
          </p:cNvPr>
          <p:cNvSpPr txBox="1">
            <a:spLocks/>
          </p:cNvSpPr>
          <p:nvPr userDrawn="1"/>
        </p:nvSpPr>
        <p:spPr>
          <a:xfrm>
            <a:off x="11567160" y="6453188"/>
            <a:ext cx="2705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39601925-951F-4EA8-91E5-A517312BFAAA}" type="slidenum">
              <a:rPr lang="en-US" sz="900" smtClean="0">
                <a:solidFill>
                  <a:schemeClr val="tx1"/>
                </a:solidFill>
                <a:latin typeface="+mn-lt"/>
              </a:rPr>
              <a:pPr lvl="0" algn="r"/>
              <a:t>‹#›</a:t>
            </a:fld>
            <a:endParaRPr lang="en-US" sz="9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07CFC0FC-EE3C-B83B-D888-70A4672B3C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6275300" y="457200"/>
            <a:ext cx="5307012" cy="244101"/>
          </a:xfrm>
          <a:prstGeom prst="rect">
            <a:avLst/>
          </a:prstGeom>
        </p:spPr>
        <p:txBody>
          <a:bodyPr wrap="square" lIns="0" tIns="36000" rIns="0" bIns="0" anchor="t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5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85750" lvl="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Deck Title/Main Idea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CA7A7A-3891-B974-5E27-533BA0B03D1B}"/>
              </a:ext>
            </a:extLst>
          </p:cNvPr>
          <p:cNvSpPr txBox="1"/>
          <p:nvPr userDrawn="1"/>
        </p:nvSpPr>
        <p:spPr>
          <a:xfrm>
            <a:off x="623888" y="6453188"/>
            <a:ext cx="278121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spc="50" baseline="0" dirty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Heebo" pitchFamily="2" charset="-79"/>
              </a:rPr>
              <a:t>© Hexaware Technologies. Confidential briefing. </a:t>
            </a:r>
            <a:endParaRPr lang="en-US" sz="700" kern="0" spc="50" baseline="0" dirty="0">
              <a:solidFill>
                <a:schemeClr val="accent5">
                  <a:lumMod val="75000"/>
                </a:schemeClr>
              </a:solidFill>
              <a:latin typeface="+mn-lt"/>
              <a:ea typeface="+mn-ea"/>
              <a:cs typeface="Heebo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14176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 userDrawn="1">
          <p15:clr>
            <a:srgbClr val="FBAE40"/>
          </p15:clr>
        </p15:guide>
        <p15:guide id="2" pos="393" userDrawn="1">
          <p15:clr>
            <a:srgbClr val="FBAE40"/>
          </p15:clr>
        </p15:guide>
        <p15:guide id="3" pos="7287" userDrawn="1">
          <p15:clr>
            <a:srgbClr val="FBAE40"/>
          </p15:clr>
        </p15:guide>
        <p15:guide id="4" orient="horz" pos="232" userDrawn="1">
          <p15:clr>
            <a:srgbClr val="FBAE40"/>
          </p15:clr>
        </p15:guide>
        <p15:guide id="5" orient="horz" pos="57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9D067813-582A-4E3A-EF66-EF9F8971DFC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5362574"/>
            <a:ext cx="1234991" cy="42862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lang="en-US" sz="1000" spc="10" baseline="0" dirty="0">
                <a:solidFill>
                  <a:schemeClr val="accent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 text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AE124A95-9614-9995-E872-AA3631F0E16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3888" y="4924425"/>
            <a:ext cx="1234991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300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228600" lvl="0" indent="-228600"/>
            <a:r>
              <a:rPr lang="en-US" sz="3000">
                <a:latin typeface="+mj-lt"/>
              </a:rPr>
              <a:t>00%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C7151D7-4F9C-C74E-F631-96155478821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3888" y="2259101"/>
            <a:ext cx="5400675" cy="22288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37160" indent="-137160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lang="en-US" sz="1200" spc="10" baseline="0" dirty="0">
                <a:latin typeface="+mj-lt"/>
              </a:defRPr>
            </a:lvl1pPr>
          </a:lstStyle>
          <a:p>
            <a:pPr marL="228600" lvl="0" indent="-228600"/>
            <a:r>
              <a:rPr lang="en-US" dirty="0"/>
              <a:t>Click to edit text</a:t>
            </a:r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44699355-78E0-0732-ED34-4CC5E8D01C8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438900" y="914401"/>
            <a:ext cx="5753100" cy="4856084"/>
          </a:xfrm>
          <a:prstGeom prst="rect">
            <a:avLst/>
          </a:prstGeom>
        </p:spPr>
        <p:txBody>
          <a:bodyPr lIns="0" tIns="0" rIns="0" bIns="0" anchor="ctr" anchorCtr="1"/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Replace image </a:t>
            </a:r>
            <a:br>
              <a:rPr lang="en-US"/>
            </a:br>
            <a:r>
              <a:rPr lang="en-US"/>
              <a:t>of your choice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00596B1D-988E-E99F-176F-80E435895062}"/>
              </a:ext>
            </a:extLst>
          </p:cNvPr>
          <p:cNvSpPr txBox="1">
            <a:spLocks/>
          </p:cNvSpPr>
          <p:nvPr userDrawn="1"/>
        </p:nvSpPr>
        <p:spPr>
          <a:xfrm>
            <a:off x="11567160" y="6453188"/>
            <a:ext cx="2705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39601925-951F-4EA8-91E5-A517312BFAAA}" type="slidenum">
              <a:rPr lang="en-US" sz="900" smtClean="0">
                <a:solidFill>
                  <a:schemeClr val="tx1"/>
                </a:solidFill>
                <a:latin typeface="+mn-lt"/>
              </a:rPr>
              <a:pPr lvl="0" algn="r"/>
              <a:t>‹#›</a:t>
            </a:fld>
            <a:endParaRPr lang="en-US" sz="9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0C99C6E-EBA2-8BAD-9F81-2D0DB0A48CF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79445" y="5362574"/>
            <a:ext cx="1234991" cy="42862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lang="en-US" sz="1000" spc="10" baseline="0" dirty="0">
                <a:solidFill>
                  <a:schemeClr val="accent1"/>
                </a:solidFill>
              </a:defRPr>
            </a:lvl1pPr>
          </a:lstStyle>
          <a:p>
            <a:pPr marL="228600" lvl="0" indent="-228600"/>
            <a:r>
              <a:rPr lang="en-US"/>
              <a:t>Click to edit text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9B8C8614-A292-2DEB-B2B8-6FE164A0B9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979445" y="4924425"/>
            <a:ext cx="1234991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300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228600" lvl="0" indent="-228600"/>
            <a:r>
              <a:rPr lang="en-US" sz="3000" dirty="0">
                <a:latin typeface="+mj-lt"/>
              </a:rPr>
              <a:t>00%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73BF58F6-5870-8D4C-28A5-5AB0669CF4F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35002" y="5362574"/>
            <a:ext cx="1234991" cy="42862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lang="en-US" sz="1000" spc="10" baseline="0" dirty="0">
                <a:solidFill>
                  <a:schemeClr val="accent1"/>
                </a:solidFill>
              </a:defRPr>
            </a:lvl1pPr>
          </a:lstStyle>
          <a:p>
            <a:pPr marL="228600" lvl="0" indent="-228600"/>
            <a:r>
              <a:rPr lang="en-US"/>
              <a:t>Click to edit text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3BC94BD8-ABAB-BE04-A141-5BF408AB233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335002" y="4924425"/>
            <a:ext cx="1234991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300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228600" lvl="0" indent="-228600"/>
            <a:r>
              <a:rPr lang="en-US" sz="3000">
                <a:latin typeface="+mj-lt"/>
              </a:rPr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BA14879-AD6D-EF65-00C1-295476E8317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690559" y="5362574"/>
            <a:ext cx="1234991" cy="42862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lang="en-US" sz="1000" spc="10" baseline="0" dirty="0">
                <a:solidFill>
                  <a:schemeClr val="accent1"/>
                </a:solidFill>
              </a:defRPr>
            </a:lvl1pPr>
          </a:lstStyle>
          <a:p>
            <a:pPr marL="228600" lvl="0" indent="-228600"/>
            <a:r>
              <a:rPr lang="en-US"/>
              <a:t>Click to edit text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72023F31-09AA-E6AB-E198-AAEB6FE7887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90559" y="4924425"/>
            <a:ext cx="1234991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300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228600" lvl="0" indent="-228600"/>
            <a:r>
              <a:rPr lang="en-US" sz="3000">
                <a:latin typeface="+mj-lt"/>
              </a:rPr>
              <a:t>00%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C356DA4B-68E0-8CE3-407A-E24FC24779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623888" y="786278"/>
            <a:ext cx="5300664" cy="174851"/>
          </a:xfrm>
          <a:prstGeom prst="rect">
            <a:avLst/>
          </a:prstGeom>
        </p:spPr>
        <p:txBody>
          <a:bodyPr wrap="square" lIns="0" tIns="36000" rIns="0" bIns="0" anchor="t" anchorCtr="0">
            <a:spAutoFit/>
          </a:bodyPr>
          <a:lstStyle>
            <a:lvl1pPr marL="0" indent="0">
              <a:buNone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Case study: Client description</a:t>
            </a:r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86F02B4B-DEA1-2B1E-63A6-AE70D545D0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1391951"/>
            <a:ext cx="5292725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lnSpc>
                <a:spcPct val="100000"/>
              </a:lnSpc>
              <a:defRPr lang="en-US" sz="2200" dirty="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Compelling hook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086C7F59-CC8C-1CFD-C8BF-9B5247BFC6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flipH="1">
            <a:off x="623888" y="457200"/>
            <a:ext cx="5300664" cy="216401"/>
          </a:xfrm>
          <a:prstGeom prst="rect">
            <a:avLst/>
          </a:prstGeom>
        </p:spPr>
        <p:txBody>
          <a:bodyPr wrap="square" lIns="0" tIns="36000" rIns="0" bIns="0" anchor="t" anchorCtr="0">
            <a:noAutofit/>
          </a:bodyPr>
          <a:lstStyle>
            <a:lvl1pPr marL="0" indent="0">
              <a:buNone/>
              <a:defRPr lang="en-US" sz="15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Business Unit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FF26795-5969-0635-78C3-63A2CFC3E4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7328" y="345760"/>
            <a:ext cx="914400" cy="12273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8EA30B7-D9E2-5CAD-6AD0-C13B33252F63}"/>
              </a:ext>
            </a:extLst>
          </p:cNvPr>
          <p:cNvSpPr txBox="1"/>
          <p:nvPr userDrawn="1"/>
        </p:nvSpPr>
        <p:spPr>
          <a:xfrm>
            <a:off x="623888" y="6453188"/>
            <a:ext cx="278121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spc="50" baseline="0" dirty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Heebo" pitchFamily="2" charset="-79"/>
              </a:rPr>
              <a:t>© Hexaware Technologies. Confidential briefing. </a:t>
            </a:r>
            <a:endParaRPr lang="en-US" sz="700" kern="0" spc="50" baseline="0" dirty="0">
              <a:solidFill>
                <a:schemeClr val="accent5">
                  <a:lumMod val="75000"/>
                </a:schemeClr>
              </a:solidFill>
              <a:latin typeface="+mn-lt"/>
              <a:ea typeface="+mn-ea"/>
              <a:cs typeface="Heebo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051241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 userDrawn="1">
          <p15:clr>
            <a:srgbClr val="FBAE40"/>
          </p15:clr>
        </p15:guide>
        <p15:guide id="2" pos="393" userDrawn="1">
          <p15:clr>
            <a:srgbClr val="FBAE40"/>
          </p15:clr>
        </p15:guide>
        <p15:guide id="3" pos="7287" userDrawn="1">
          <p15:clr>
            <a:srgbClr val="FBAE40"/>
          </p15:clr>
        </p15:guide>
        <p15:guide id="4" orient="horz" pos="240" userDrawn="1">
          <p15:clr>
            <a:srgbClr val="FBAE40"/>
          </p15:clr>
        </p15:guide>
        <p15:guide id="5" orient="horz" pos="572" userDrawn="1">
          <p15:clr>
            <a:srgbClr val="FBAE40"/>
          </p15:clr>
        </p15:guide>
        <p15:guide id="6" pos="3795" userDrawn="1">
          <p15:clr>
            <a:srgbClr val="FBAE40"/>
          </p15:clr>
        </p15:guide>
        <p15:guide id="7" pos="40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with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9D067813-582A-4E3A-EF66-EF9F8971DFC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5362574"/>
            <a:ext cx="1234991" cy="42862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lang="en-US" sz="1000" spc="10" baseline="0" dirty="0"/>
            </a:lvl1pPr>
          </a:lstStyle>
          <a:p>
            <a:pPr marL="228600" lvl="0" indent="-228600"/>
            <a:r>
              <a:rPr lang="en-US"/>
              <a:t>Click to edit text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AE124A95-9614-9995-E872-AA3631F0E16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3888" y="4924425"/>
            <a:ext cx="1234991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300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228600" lvl="0" indent="-228600"/>
            <a:r>
              <a:rPr lang="en-US" sz="3000">
                <a:latin typeface="+mj-lt"/>
              </a:rPr>
              <a:t>00%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C7151D7-4F9C-C74E-F631-96155478821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3888" y="2259101"/>
            <a:ext cx="5400675" cy="22288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37160" indent="-13716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lang="en-US" sz="1200" spc="10" baseline="0" dirty="0">
                <a:latin typeface="+mj-lt"/>
              </a:defRPr>
            </a:lvl1pPr>
          </a:lstStyle>
          <a:p>
            <a:pPr marL="228600" lvl="0" indent="-228600"/>
            <a:r>
              <a:rPr lang="en-US" dirty="0"/>
              <a:t>Click to edit text</a:t>
            </a:r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44699355-78E0-0732-ED34-4CC5E8D01C8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438900" y="914401"/>
            <a:ext cx="5753100" cy="4856084"/>
          </a:xfrm>
          <a:prstGeom prst="rect">
            <a:avLst/>
          </a:prstGeom>
        </p:spPr>
        <p:txBody>
          <a:bodyPr lIns="0" tIns="0" rIns="0" bIns="0" anchor="ctr" anchorCtr="1"/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Replace image </a:t>
            </a:r>
            <a:br>
              <a:rPr lang="en-US"/>
            </a:br>
            <a:r>
              <a:rPr lang="en-US"/>
              <a:t>of your choice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00596B1D-988E-E99F-176F-80E435895062}"/>
              </a:ext>
            </a:extLst>
          </p:cNvPr>
          <p:cNvSpPr txBox="1">
            <a:spLocks/>
          </p:cNvSpPr>
          <p:nvPr userDrawn="1"/>
        </p:nvSpPr>
        <p:spPr>
          <a:xfrm>
            <a:off x="11567160" y="6453188"/>
            <a:ext cx="2705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39601925-951F-4EA8-91E5-A517312BFAAA}" type="slidenum">
              <a:rPr lang="en-US" sz="900" smtClean="0">
                <a:solidFill>
                  <a:schemeClr val="tx1"/>
                </a:solidFill>
                <a:latin typeface="+mn-lt"/>
              </a:rPr>
              <a:pPr lvl="0" algn="r"/>
              <a:t>‹#›</a:t>
            </a:fld>
            <a:endParaRPr lang="en-US" sz="9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0C99C6E-EBA2-8BAD-9F81-2D0DB0A48CF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79445" y="5362574"/>
            <a:ext cx="1234991" cy="42862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lang="en-US" sz="1000" spc="10" baseline="0" dirty="0"/>
            </a:lvl1pPr>
          </a:lstStyle>
          <a:p>
            <a:pPr marL="228600" lvl="0" indent="-228600"/>
            <a:r>
              <a:rPr lang="en-US"/>
              <a:t>Click to edit text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9B8C8614-A292-2DEB-B2B8-6FE164A0B9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979445" y="4924425"/>
            <a:ext cx="1234991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300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228600" lvl="0" indent="-228600"/>
            <a:r>
              <a:rPr lang="en-US" sz="3000" dirty="0">
                <a:latin typeface="+mj-lt"/>
              </a:rPr>
              <a:t>00%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73BF58F6-5870-8D4C-28A5-5AB0669CF4F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35002" y="5362574"/>
            <a:ext cx="1234991" cy="42862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lang="en-US" sz="1000" spc="10" baseline="0" dirty="0"/>
            </a:lvl1pPr>
          </a:lstStyle>
          <a:p>
            <a:pPr marL="228600" lvl="0" indent="-228600"/>
            <a:r>
              <a:rPr lang="en-US"/>
              <a:t>Click to edit text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3BC94BD8-ABAB-BE04-A141-5BF408AB233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335002" y="4924425"/>
            <a:ext cx="1234991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300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228600" lvl="0" indent="-228600"/>
            <a:r>
              <a:rPr lang="en-US" sz="3000">
                <a:latin typeface="+mj-lt"/>
              </a:rPr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BA14879-AD6D-EF65-00C1-295476E8317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690559" y="5362574"/>
            <a:ext cx="1234991" cy="42862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lang="en-US" sz="1000" spc="10" baseline="0" dirty="0"/>
            </a:lvl1pPr>
          </a:lstStyle>
          <a:p>
            <a:pPr marL="228600" lvl="0" indent="-228600"/>
            <a:r>
              <a:rPr lang="en-US"/>
              <a:t>Click to edit text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72023F31-09AA-E6AB-E198-AAEB6FE7887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90559" y="4924425"/>
            <a:ext cx="1234991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300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228600" lvl="0" indent="-228600"/>
            <a:r>
              <a:rPr lang="en-US" sz="3000">
                <a:latin typeface="+mj-lt"/>
              </a:rPr>
              <a:t>00%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C356DA4B-68E0-8CE3-407A-E24FC24779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623888" y="786278"/>
            <a:ext cx="5300664" cy="174851"/>
          </a:xfrm>
          <a:prstGeom prst="rect">
            <a:avLst/>
          </a:prstGeom>
        </p:spPr>
        <p:txBody>
          <a:bodyPr wrap="square" lIns="0" tIns="36000" rIns="0" bIns="0" anchor="t" anchorCtr="0">
            <a:spAutoFit/>
          </a:bodyPr>
          <a:lstStyle>
            <a:lvl1pPr marL="0" indent="0">
              <a:buNone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Case study: Client description</a:t>
            </a:r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86F02B4B-DEA1-2B1E-63A6-AE70D545D0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1391951"/>
            <a:ext cx="5292725" cy="3046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2200" dirty="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Compelling hook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086C7F59-CC8C-1CFD-C8BF-9B5247BFC6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flipH="1">
            <a:off x="623888" y="457200"/>
            <a:ext cx="5300664" cy="216401"/>
          </a:xfrm>
          <a:prstGeom prst="rect">
            <a:avLst/>
          </a:prstGeom>
        </p:spPr>
        <p:txBody>
          <a:bodyPr wrap="square" lIns="0" tIns="36000" rIns="0" bIns="0" anchor="t" anchorCtr="0">
            <a:noAutofit/>
          </a:bodyPr>
          <a:lstStyle>
            <a:lvl1pPr marL="0" indent="0">
              <a:buNone/>
              <a:defRPr lang="en-US" sz="15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Business Unit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FF26795-5969-0635-78C3-63A2CFC3E4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7328" y="345760"/>
            <a:ext cx="914400" cy="12273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8EA30B7-D9E2-5CAD-6AD0-C13B33252F63}"/>
              </a:ext>
            </a:extLst>
          </p:cNvPr>
          <p:cNvSpPr txBox="1"/>
          <p:nvPr userDrawn="1"/>
        </p:nvSpPr>
        <p:spPr>
          <a:xfrm>
            <a:off x="623888" y="6453188"/>
            <a:ext cx="278121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spc="50" baseline="0" dirty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Heebo" pitchFamily="2" charset="-79"/>
              </a:rPr>
              <a:t>© Hexaware Technologies. Confidential briefing. </a:t>
            </a:r>
            <a:endParaRPr lang="en-US" sz="700" kern="0" spc="50" baseline="0" dirty="0">
              <a:solidFill>
                <a:schemeClr val="accent5">
                  <a:lumMod val="75000"/>
                </a:schemeClr>
              </a:solidFill>
              <a:latin typeface="+mn-lt"/>
              <a:ea typeface="+mn-ea"/>
              <a:cs typeface="Heebo" pitchFamily="2" charset="-79"/>
            </a:endParaRP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AB14D727-AE35-74B6-7123-2B8ADA30FEC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547412" y="194455"/>
            <a:ext cx="1291871" cy="409853"/>
          </a:xfrm>
          <a:prstGeom prst="rect">
            <a:avLst/>
          </a:prstGeom>
        </p:spPr>
        <p:txBody>
          <a:bodyPr lIns="0" tIns="0" rIns="0" bIns="0" anchor="ctr" anchorCtr="1"/>
          <a:lstStyle>
            <a:lvl1pPr marL="0" indent="0">
              <a:lnSpc>
                <a:spcPct val="100000"/>
              </a:lnSpc>
              <a:buNone/>
              <a:defRPr lang="en-US" sz="900" dirty="0"/>
            </a:lvl1pPr>
          </a:lstStyle>
          <a:p>
            <a:pPr marL="228600" lvl="0" indent="-228600" algn="ctr"/>
            <a:r>
              <a:rPr lang="en-US"/>
              <a:t>Client logo here.</a:t>
            </a:r>
          </a:p>
        </p:txBody>
      </p:sp>
    </p:spTree>
    <p:extLst>
      <p:ext uri="{BB962C8B-B14F-4D97-AF65-F5344CB8AC3E}">
        <p14:creationId xmlns:p14="http://schemas.microsoft.com/office/powerpoint/2010/main" val="1300655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 userDrawn="1">
          <p15:clr>
            <a:srgbClr val="FBAE40"/>
          </p15:clr>
        </p15:guide>
        <p15:guide id="2" pos="393" userDrawn="1">
          <p15:clr>
            <a:srgbClr val="FBAE40"/>
          </p15:clr>
        </p15:guide>
        <p15:guide id="3" pos="7287" userDrawn="1">
          <p15:clr>
            <a:srgbClr val="FBAE40"/>
          </p15:clr>
        </p15:guide>
        <p15:guide id="4" orient="horz" pos="240" userDrawn="1">
          <p15:clr>
            <a:srgbClr val="FBAE40"/>
          </p15:clr>
        </p15:guide>
        <p15:guide id="5" orient="horz" pos="572" userDrawn="1">
          <p15:clr>
            <a:srgbClr val="FBAE40"/>
          </p15:clr>
        </p15:guide>
        <p15:guide id="6" pos="3795" userDrawn="1">
          <p15:clr>
            <a:srgbClr val="FBAE40"/>
          </p15:clr>
        </p15:guide>
        <p15:guide id="7" pos="405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0023B6BF-6BEC-44B3-16FD-D8AD3240A4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 anchorCtr="1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Replace with brand-approved image </a:t>
            </a:r>
            <a:br>
              <a:rPr lang="en-US" dirty="0"/>
            </a:br>
            <a:r>
              <a:rPr lang="en-US" dirty="0"/>
              <a:t>of your choice from </a:t>
            </a:r>
            <a:r>
              <a:rPr lang="en-US" dirty="0" err="1"/>
              <a:t>SalesCentral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8F0E86-E33C-1C9A-B1D6-25E39CA4FF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3857625"/>
            <a:ext cx="8180649" cy="62324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sz="45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9B85627-C772-5EFB-A063-1191C3E2A3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888" y="3274796"/>
            <a:ext cx="7328535" cy="30480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lang="en-US" sz="1800" kern="120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Deck Title/Main Idea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A9B6927-ECC4-B8DD-4D37-1E96DB1E0D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7328" y="345760"/>
            <a:ext cx="914400" cy="12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092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FBAE40"/>
          </p15:clr>
        </p15:guide>
        <p15:guide id="2" pos="393" userDrawn="1">
          <p15:clr>
            <a:srgbClr val="FBAE40"/>
          </p15:clr>
        </p15:guide>
        <p15:guide id="3" orient="horz" pos="572" userDrawn="1">
          <p15:clr>
            <a:srgbClr val="FBAE40"/>
          </p15:clr>
        </p15:guide>
        <p15:guide id="4" pos="7287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4945255-4D54-BD6F-F948-3B2AF5A407A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 anchorCtr="1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Replace with brand-approved image </a:t>
            </a:r>
            <a:br>
              <a:rPr lang="en-US" dirty="0"/>
            </a:br>
            <a:r>
              <a:rPr lang="en-US" dirty="0"/>
              <a:t>of your choice from </a:t>
            </a:r>
            <a:r>
              <a:rPr lang="en-US" dirty="0" err="1"/>
              <a:t>SalesCentral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0E6E8BE-2736-1222-838E-6E63376063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959" y="3039710"/>
            <a:ext cx="9264015" cy="761747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>
              <a:defRPr lang="en-US" sz="55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Quotes/Statements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BF5C101-3AED-153B-C82B-8B61A30168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7328" y="345760"/>
            <a:ext cx="914400" cy="1227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F22B60-3A0B-2802-A96C-D3BBE975C036}"/>
              </a:ext>
            </a:extLst>
          </p:cNvPr>
          <p:cNvSpPr txBox="1"/>
          <p:nvPr userDrawn="1"/>
        </p:nvSpPr>
        <p:spPr>
          <a:xfrm>
            <a:off x="623888" y="6453188"/>
            <a:ext cx="278121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spc="50" baseline="0" dirty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Heebo" pitchFamily="2" charset="-79"/>
              </a:rPr>
              <a:t>© Hexaware Technologies. Confidential briefing. </a:t>
            </a:r>
            <a:endParaRPr lang="en-US" sz="700" kern="0" spc="50" baseline="0" dirty="0">
              <a:solidFill>
                <a:schemeClr val="accent5">
                  <a:lumMod val="75000"/>
                </a:schemeClr>
              </a:solidFill>
              <a:latin typeface="+mn-lt"/>
              <a:ea typeface="+mn-ea"/>
              <a:cs typeface="Heebo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96585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  <p15:guide id="4" orient="horz" pos="232">
          <p15:clr>
            <a:srgbClr val="FBAE40"/>
          </p15:clr>
        </p15:guide>
        <p15:guide id="5" orient="horz" pos="57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Blue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1B5BBF-3656-D3C3-5A83-CACD136FC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908050"/>
            <a:ext cx="5335587" cy="3462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2500">
                <a:solidFill>
                  <a:schemeClr val="bg2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4FF0805-C9C2-2263-891F-E0EAD4704885}"/>
              </a:ext>
            </a:extLst>
          </p:cNvPr>
          <p:cNvSpPr txBox="1">
            <a:spLocks/>
          </p:cNvSpPr>
          <p:nvPr userDrawn="1"/>
        </p:nvSpPr>
        <p:spPr>
          <a:xfrm>
            <a:off x="11567160" y="6453188"/>
            <a:ext cx="2705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39601925-951F-4EA8-91E5-A517312BFAAA}" type="slidenum">
              <a:rPr lang="en-US" sz="900" smtClean="0">
                <a:solidFill>
                  <a:schemeClr val="bg2"/>
                </a:solidFill>
                <a:latin typeface="+mn-lt"/>
              </a:rPr>
              <a:pPr lvl="0" algn="r"/>
              <a:t>‹#›</a:t>
            </a:fld>
            <a:endParaRPr lang="en-US" sz="900">
              <a:solidFill>
                <a:schemeClr val="bg2"/>
              </a:solidFill>
              <a:latin typeface="+mn-lt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57AFB80-6C53-A18C-7FEF-6CAEDC4A62A6}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7328" y="345760"/>
            <a:ext cx="914400" cy="1227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0B9604-38F2-3FB9-7EAE-F929A08B46DA}"/>
              </a:ext>
            </a:extLst>
          </p:cNvPr>
          <p:cNvSpPr txBox="1"/>
          <p:nvPr userDrawn="1"/>
        </p:nvSpPr>
        <p:spPr>
          <a:xfrm>
            <a:off x="623888" y="6453188"/>
            <a:ext cx="278121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spc="50" baseline="0" dirty="0">
                <a:solidFill>
                  <a:srgbClr val="CBD0E5"/>
                </a:solidFill>
                <a:latin typeface="+mn-lt"/>
                <a:ea typeface="+mn-ea"/>
                <a:cs typeface="Heebo" pitchFamily="2" charset="-79"/>
              </a:rPr>
              <a:t>© Hexaware Technologies. Confidential briefing. </a:t>
            </a:r>
            <a:endParaRPr lang="en-US" sz="700" kern="0" spc="50" baseline="0" dirty="0">
              <a:solidFill>
                <a:srgbClr val="CBD0E5"/>
              </a:solidFill>
              <a:latin typeface="+mn-lt"/>
              <a:ea typeface="+mn-ea"/>
              <a:cs typeface="Heebo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073989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 userDrawn="1">
          <p15:clr>
            <a:srgbClr val="FBAE40"/>
          </p15:clr>
        </p15:guide>
        <p15:guide id="2" pos="393" userDrawn="1">
          <p15:clr>
            <a:srgbClr val="FBAE40"/>
          </p15:clr>
        </p15:guide>
        <p15:guide id="3" pos="7287" userDrawn="1">
          <p15:clr>
            <a:srgbClr val="FBAE40"/>
          </p15:clr>
        </p15:guide>
        <p15:guide id="4" orient="horz" pos="232" userDrawn="1">
          <p15:clr>
            <a:srgbClr val="FBAE40"/>
          </p15:clr>
        </p15:guide>
        <p15:guide id="5" orient="horz" pos="572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1B5BBF-3656-D3C3-5A83-CACD136FC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908050"/>
            <a:ext cx="5335587" cy="3462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250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4FF0805-C9C2-2263-891F-E0EAD4704885}"/>
              </a:ext>
            </a:extLst>
          </p:cNvPr>
          <p:cNvSpPr txBox="1">
            <a:spLocks/>
          </p:cNvSpPr>
          <p:nvPr userDrawn="1"/>
        </p:nvSpPr>
        <p:spPr>
          <a:xfrm>
            <a:off x="11567160" y="6453188"/>
            <a:ext cx="2705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39601925-951F-4EA8-91E5-A517312BFAAA}" type="slidenum">
              <a:rPr lang="en-US" sz="900" smtClean="0">
                <a:solidFill>
                  <a:schemeClr val="tx1"/>
                </a:solidFill>
                <a:latin typeface="+mn-lt"/>
              </a:rPr>
              <a:pPr lvl="0" algn="r"/>
              <a:t>‹#›</a:t>
            </a:fld>
            <a:endParaRPr lang="en-US" sz="9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F1B1B2-864D-DAA1-E37B-5AF3B309E6ED}"/>
              </a:ext>
            </a:extLst>
          </p:cNvPr>
          <p:cNvSpPr txBox="1"/>
          <p:nvPr userDrawn="1"/>
        </p:nvSpPr>
        <p:spPr>
          <a:xfrm>
            <a:off x="623888" y="6453188"/>
            <a:ext cx="278121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spc="50" baseline="0" dirty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Heebo" pitchFamily="2" charset="-79"/>
              </a:rPr>
              <a:t>© Hexaware Technologies. Confidential briefing. </a:t>
            </a:r>
            <a:endParaRPr lang="en-US" sz="700" kern="0" spc="50" baseline="0" dirty="0">
              <a:solidFill>
                <a:schemeClr val="accent5">
                  <a:lumMod val="75000"/>
                </a:schemeClr>
              </a:solidFill>
              <a:latin typeface="+mn-lt"/>
              <a:ea typeface="+mn-ea"/>
              <a:cs typeface="Heebo" pitchFamily="2" charset="-79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5ADA5CE-3411-C91A-6526-A8678FD411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7328" y="345760"/>
            <a:ext cx="914400" cy="12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027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 userDrawn="1">
          <p15:clr>
            <a:srgbClr val="FBAE40"/>
          </p15:clr>
        </p15:guide>
        <p15:guide id="2" pos="393" userDrawn="1">
          <p15:clr>
            <a:srgbClr val="FBAE40"/>
          </p15:clr>
        </p15:guide>
        <p15:guide id="3" pos="7287" userDrawn="1">
          <p15:clr>
            <a:srgbClr val="FBAE40"/>
          </p15:clr>
        </p15:guide>
        <p15:guide id="4" orient="horz" pos="232" userDrawn="1">
          <p15:clr>
            <a:srgbClr val="FBAE40"/>
          </p15:clr>
        </p15:guide>
        <p15:guide id="5" orient="horz" pos="57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F0E86-E33C-1C9A-B1D6-25E39CA4FF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960" y="2091739"/>
            <a:ext cx="4884999" cy="62324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sz="45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574EB1B-5E89-24D3-37E1-BE7FA96AAAE0}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5470881"/>
            <a:ext cx="1414402" cy="18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5873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FBAE40"/>
          </p15:clr>
        </p15:guide>
        <p15:guide id="2" pos="393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pos="728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EF71674-9144-08B7-A17A-3B084A2CE560}"/>
              </a:ext>
            </a:extLst>
          </p:cNvPr>
          <p:cNvSpPr txBox="1">
            <a:spLocks/>
          </p:cNvSpPr>
          <p:nvPr userDrawn="1"/>
        </p:nvSpPr>
        <p:spPr>
          <a:xfrm>
            <a:off x="11568055" y="6453188"/>
            <a:ext cx="2705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39601925-951F-4EA8-91E5-A517312BFAAA}" type="slidenum">
              <a:rPr lang="en-US" sz="900" smtClean="0">
                <a:solidFill>
                  <a:schemeClr val="bg1"/>
                </a:solidFill>
                <a:latin typeface="+mn-lt"/>
              </a:rPr>
              <a:pPr lvl="0" algn="r"/>
              <a:t>‹#›</a:t>
            </a:fld>
            <a:endParaRPr lang="en-US" sz="9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1A92E810-A64D-864A-E713-F5B7065D4E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623888" y="457200"/>
            <a:ext cx="8172450" cy="244101"/>
          </a:xfrm>
          <a:prstGeom prst="rect">
            <a:avLst/>
          </a:prstGeom>
        </p:spPr>
        <p:txBody>
          <a:bodyPr wrap="square" lIns="0" tIns="36000" rIns="0" bIns="0" anchor="t" anchorCtr="0">
            <a:spAutoFit/>
          </a:bodyPr>
          <a:lstStyle>
            <a:lvl1pPr marL="0" indent="0">
              <a:buNone/>
              <a:defRPr lang="en-US" sz="15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Deck Title/Main Idea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A3895CC-568A-639E-289C-349CD49C4390}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7328" y="345760"/>
            <a:ext cx="914400" cy="1227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8409DB-CB7B-4169-181C-8AC7B3B37EC7}"/>
              </a:ext>
            </a:extLst>
          </p:cNvPr>
          <p:cNvSpPr txBox="1"/>
          <p:nvPr userDrawn="1"/>
        </p:nvSpPr>
        <p:spPr>
          <a:xfrm>
            <a:off x="623888" y="6453188"/>
            <a:ext cx="278121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spc="50" baseline="0" dirty="0">
                <a:solidFill>
                  <a:srgbClr val="CBD0E5"/>
                </a:solidFill>
                <a:latin typeface="+mn-lt"/>
                <a:ea typeface="+mn-ea"/>
                <a:cs typeface="Heebo" pitchFamily="2" charset="-79"/>
              </a:rPr>
              <a:t>© Hexaware Technologies. Confidential briefing. </a:t>
            </a:r>
            <a:endParaRPr lang="en-US" sz="700" kern="0" spc="50" baseline="0" dirty="0">
              <a:solidFill>
                <a:srgbClr val="CBD0E5"/>
              </a:solidFill>
              <a:latin typeface="+mn-lt"/>
              <a:ea typeface="+mn-ea"/>
              <a:cs typeface="Heebo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50399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 userDrawn="1">
          <p15:clr>
            <a:srgbClr val="FBAE40"/>
          </p15:clr>
        </p15:guide>
        <p15:guide id="2" pos="393" userDrawn="1">
          <p15:clr>
            <a:srgbClr val="FBAE40"/>
          </p15:clr>
        </p15:guide>
        <p15:guide id="3" pos="7287" userDrawn="1">
          <p15:clr>
            <a:srgbClr val="FBAE40"/>
          </p15:clr>
        </p15:guide>
        <p15:guide id="4" orient="horz" pos="232" userDrawn="1">
          <p15:clr>
            <a:srgbClr val="FBAE40"/>
          </p15:clr>
        </p15:guide>
        <p15:guide id="5" orient="horz" pos="5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Layout with 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8A799FA-C73D-ED39-C551-268E9A6FE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908050"/>
            <a:ext cx="5307012" cy="3046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220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A554E1C-C3D3-0AA0-1FE5-E52D3268E9F6}"/>
              </a:ext>
            </a:extLst>
          </p:cNvPr>
          <p:cNvSpPr txBox="1">
            <a:spLocks/>
          </p:cNvSpPr>
          <p:nvPr userDrawn="1"/>
        </p:nvSpPr>
        <p:spPr>
          <a:xfrm>
            <a:off x="11567160" y="6453188"/>
            <a:ext cx="2705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39601925-951F-4EA8-91E5-A517312BFAAA}" type="slidenum">
              <a:rPr lang="en-US" sz="900" smtClean="0">
                <a:solidFill>
                  <a:schemeClr val="bg1"/>
                </a:solidFill>
                <a:latin typeface="+mn-lt"/>
              </a:rPr>
              <a:pPr lvl="0" algn="r"/>
              <a:t>‹#›</a:t>
            </a:fld>
            <a:endParaRPr lang="en-US" sz="9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07CFC0FC-EE3C-B83B-D888-70A4672B3C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623888" y="457200"/>
            <a:ext cx="8172450" cy="244101"/>
          </a:xfrm>
          <a:prstGeom prst="rect">
            <a:avLst/>
          </a:prstGeom>
        </p:spPr>
        <p:txBody>
          <a:bodyPr wrap="square" lIns="0" tIns="36000" rIns="0" bIns="0" anchor="t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5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85750" lvl="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Deck Title/Main Idea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DC9056D-0F0D-85E8-271E-778B65526133}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7328" y="345760"/>
            <a:ext cx="914400" cy="1227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59E093-06FF-D167-A76E-CF4FFD813A7C}"/>
              </a:ext>
            </a:extLst>
          </p:cNvPr>
          <p:cNvSpPr txBox="1"/>
          <p:nvPr userDrawn="1"/>
        </p:nvSpPr>
        <p:spPr>
          <a:xfrm>
            <a:off x="623888" y="6453188"/>
            <a:ext cx="278121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spc="50" baseline="0" dirty="0">
                <a:solidFill>
                  <a:srgbClr val="CBD0E5"/>
                </a:solidFill>
                <a:latin typeface="+mn-lt"/>
                <a:ea typeface="+mn-ea"/>
                <a:cs typeface="Heebo" pitchFamily="2" charset="-79"/>
              </a:rPr>
              <a:t>© Hexaware Technologies. Confidential briefing. </a:t>
            </a:r>
            <a:endParaRPr lang="en-US" sz="700" kern="0" spc="50" baseline="0" dirty="0">
              <a:solidFill>
                <a:srgbClr val="CBD0E5"/>
              </a:solidFill>
              <a:latin typeface="+mn-lt"/>
              <a:ea typeface="+mn-ea"/>
              <a:cs typeface="Heebo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675909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 userDrawn="1">
          <p15:clr>
            <a:srgbClr val="FBAE40"/>
          </p15:clr>
        </p15:guide>
        <p15:guide id="2" pos="393" userDrawn="1">
          <p15:clr>
            <a:srgbClr val="FBAE40"/>
          </p15:clr>
        </p15:guide>
        <p15:guide id="3" pos="7287" userDrawn="1">
          <p15:clr>
            <a:srgbClr val="FBAE40"/>
          </p15:clr>
        </p15:guide>
        <p15:guide id="4" orient="horz" pos="232" userDrawn="1">
          <p15:clr>
            <a:srgbClr val="FBAE40"/>
          </p15:clr>
        </p15:guide>
        <p15:guide id="5" orient="horz" pos="572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Layou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8A799FA-C73D-ED39-C551-268E9A6FE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908050"/>
            <a:ext cx="5307012" cy="3046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220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A554E1C-C3D3-0AA0-1FE5-E52D3268E9F6}"/>
              </a:ext>
            </a:extLst>
          </p:cNvPr>
          <p:cNvSpPr txBox="1">
            <a:spLocks/>
          </p:cNvSpPr>
          <p:nvPr userDrawn="1"/>
        </p:nvSpPr>
        <p:spPr>
          <a:xfrm>
            <a:off x="11567160" y="6453188"/>
            <a:ext cx="2705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39601925-951F-4EA8-91E5-A517312BFAAA}" type="slidenum">
              <a:rPr lang="en-US" sz="900" smtClean="0">
                <a:solidFill>
                  <a:schemeClr val="bg1"/>
                </a:solidFill>
                <a:latin typeface="+mn-lt"/>
              </a:rPr>
              <a:pPr lvl="0" algn="r"/>
              <a:t>‹#›</a:t>
            </a:fld>
            <a:endParaRPr lang="en-US" sz="9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07CFC0FC-EE3C-B83B-D888-70A4672B3C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623888" y="457200"/>
            <a:ext cx="5307012" cy="244101"/>
          </a:xfrm>
          <a:prstGeom prst="rect">
            <a:avLst/>
          </a:prstGeom>
        </p:spPr>
        <p:txBody>
          <a:bodyPr wrap="square" lIns="0" tIns="36000" rIns="0" bIns="0" anchor="t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5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85750" lvl="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Deck Title/Main Idea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E0C4611E-F017-7C1D-2FF4-E1E27846092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75388" y="0"/>
            <a:ext cx="5916612" cy="6858000"/>
          </a:xfrm>
          <a:prstGeom prst="rect">
            <a:avLst/>
          </a:prstGeom>
        </p:spPr>
        <p:txBody>
          <a:bodyPr lIns="0" tIns="0" rIns="0" bIns="0" anchor="ctr" anchorCtr="1"/>
          <a:lstStyle>
            <a:lvl1pPr marL="0" indent="0">
              <a:lnSpc>
                <a:spcPct val="100000"/>
              </a:lnSpc>
              <a:buNone/>
              <a:defRPr lang="en-US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Replace image </a:t>
            </a:r>
            <a:br>
              <a:rPr lang="en-US" dirty="0"/>
            </a:br>
            <a:r>
              <a:rPr lang="en-US" dirty="0"/>
              <a:t>of your choice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D0A526-A5A2-A405-EAF5-731C3A9CCC62}"/>
              </a:ext>
            </a:extLst>
          </p:cNvPr>
          <p:cNvSpPr txBox="1"/>
          <p:nvPr userDrawn="1"/>
        </p:nvSpPr>
        <p:spPr>
          <a:xfrm>
            <a:off x="623888" y="6453188"/>
            <a:ext cx="278121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spc="50" baseline="0" dirty="0">
                <a:solidFill>
                  <a:srgbClr val="CBD0E5"/>
                </a:solidFill>
                <a:latin typeface="+mn-lt"/>
                <a:ea typeface="+mn-ea"/>
                <a:cs typeface="Heebo" pitchFamily="2" charset="-79"/>
              </a:rPr>
              <a:t>© Hexaware Technologies. Confidential briefing. </a:t>
            </a:r>
            <a:endParaRPr lang="en-US" sz="700" kern="0" spc="50" baseline="0" dirty="0">
              <a:solidFill>
                <a:srgbClr val="CBD0E5"/>
              </a:solidFill>
              <a:latin typeface="+mn-lt"/>
              <a:ea typeface="+mn-ea"/>
              <a:cs typeface="Heebo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817225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 userDrawn="1">
          <p15:clr>
            <a:srgbClr val="FBAE40"/>
          </p15:clr>
        </p15:guide>
        <p15:guide id="2" pos="393" userDrawn="1">
          <p15:clr>
            <a:srgbClr val="FBAE40"/>
          </p15:clr>
        </p15:guide>
        <p15:guide id="3" pos="7287" userDrawn="1">
          <p15:clr>
            <a:srgbClr val="FBAE40"/>
          </p15:clr>
        </p15:guide>
        <p15:guide id="4" orient="horz" pos="232" userDrawn="1">
          <p15:clr>
            <a:srgbClr val="FBAE40"/>
          </p15:clr>
        </p15:guide>
        <p15:guide id="5" orient="horz" pos="57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Layout with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E0C4611E-F017-7C1D-2FF4-E1E27846092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5916612" cy="6858000"/>
          </a:xfrm>
          <a:prstGeom prst="rect">
            <a:avLst/>
          </a:prstGeom>
        </p:spPr>
        <p:txBody>
          <a:bodyPr lIns="0" tIns="0" rIns="0" bIns="0" anchor="ctr" anchorCtr="1"/>
          <a:lstStyle>
            <a:lvl1pPr marL="0" indent="0">
              <a:lnSpc>
                <a:spcPct val="100000"/>
              </a:lnSpc>
              <a:buNone/>
              <a:defRPr lang="en-US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Replace image </a:t>
            </a:r>
            <a:br>
              <a:rPr lang="en-US" dirty="0"/>
            </a:br>
            <a:r>
              <a:rPr lang="en-US" dirty="0"/>
              <a:t>of your choice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A799FA-C73D-ED39-C551-268E9A6FE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5300" y="908050"/>
            <a:ext cx="5307012" cy="3046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220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A554E1C-C3D3-0AA0-1FE5-E52D3268E9F6}"/>
              </a:ext>
            </a:extLst>
          </p:cNvPr>
          <p:cNvSpPr txBox="1">
            <a:spLocks/>
          </p:cNvSpPr>
          <p:nvPr userDrawn="1"/>
        </p:nvSpPr>
        <p:spPr>
          <a:xfrm>
            <a:off x="11567160" y="6453188"/>
            <a:ext cx="2705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39601925-951F-4EA8-91E5-A517312BFAAA}" type="slidenum">
              <a:rPr lang="en-US" sz="900" smtClean="0">
                <a:solidFill>
                  <a:schemeClr val="bg1"/>
                </a:solidFill>
                <a:latin typeface="+mn-lt"/>
              </a:rPr>
              <a:pPr lvl="0" algn="r"/>
              <a:t>‹#›</a:t>
            </a:fld>
            <a:endParaRPr lang="en-US" sz="9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07CFC0FC-EE3C-B83B-D888-70A4672B3C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6275300" y="457200"/>
            <a:ext cx="5307012" cy="244101"/>
          </a:xfrm>
          <a:prstGeom prst="rect">
            <a:avLst/>
          </a:prstGeom>
        </p:spPr>
        <p:txBody>
          <a:bodyPr wrap="square" lIns="0" tIns="36000" rIns="0" bIns="0" anchor="t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5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85750" lvl="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Deck Title/Main Idea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4F5721-09A8-C795-2E2B-2C53C15943A8}"/>
              </a:ext>
            </a:extLst>
          </p:cNvPr>
          <p:cNvSpPr txBox="1"/>
          <p:nvPr userDrawn="1"/>
        </p:nvSpPr>
        <p:spPr>
          <a:xfrm>
            <a:off x="623888" y="6453188"/>
            <a:ext cx="278121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spc="50" baseline="0" dirty="0">
                <a:solidFill>
                  <a:srgbClr val="CBD0E5"/>
                </a:solidFill>
                <a:latin typeface="+mn-lt"/>
                <a:ea typeface="+mn-ea"/>
                <a:cs typeface="Heebo" pitchFamily="2" charset="-79"/>
              </a:rPr>
              <a:t>© Hexaware Technologies. Confidential briefing. </a:t>
            </a:r>
            <a:endParaRPr lang="en-US" sz="700" kern="0" spc="50" baseline="0" dirty="0">
              <a:solidFill>
                <a:srgbClr val="CBD0E5"/>
              </a:solidFill>
              <a:latin typeface="+mn-lt"/>
              <a:ea typeface="+mn-ea"/>
              <a:cs typeface="Heebo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4865461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 userDrawn="1">
          <p15:clr>
            <a:srgbClr val="FBAE40"/>
          </p15:clr>
        </p15:guide>
        <p15:guide id="2" pos="393" userDrawn="1">
          <p15:clr>
            <a:srgbClr val="FBAE40"/>
          </p15:clr>
        </p15:guide>
        <p15:guide id="3" pos="7287" userDrawn="1">
          <p15:clr>
            <a:srgbClr val="FBAE40"/>
          </p15:clr>
        </p15:guide>
        <p15:guide id="4" orient="horz" pos="232" userDrawn="1">
          <p15:clr>
            <a:srgbClr val="FBAE40"/>
          </p15:clr>
        </p15:guide>
        <p15:guide id="5" orient="horz" pos="572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4527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678" r:id="rId2"/>
    <p:sldLayoutId id="2147483679" r:id="rId3"/>
    <p:sldLayoutId id="2147483704" r:id="rId4"/>
    <p:sldLayoutId id="2147483705" r:id="rId5"/>
    <p:sldLayoutId id="2147483674" r:id="rId6"/>
    <p:sldLayoutId id="2147483703" r:id="rId7"/>
    <p:sldLayoutId id="2147483657" r:id="rId8"/>
    <p:sldLayoutId id="2147483706" r:id="rId9"/>
    <p:sldLayoutId id="2147483658" r:id="rId10"/>
    <p:sldLayoutId id="2147483707" r:id="rId11"/>
    <p:sldLayoutId id="2147483656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4589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6" sz="quarter"/>
          </p:nvPr>
        </p:nvSpPr>
        <p:spPr/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Regulith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A5A5A"/>
                </a:solidFill>
              </a:defRPr>
            </a:pPr>
            <a:r>
              <a:t>Delivery Compliance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47AB"/>
                </a:solidFill>
              </a:defRPr>
            </a:pPr>
            <a:r>
              <a:t>One commit. Six compliance domains. Zero surprises.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8640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Agentic Arena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Silent multi-domain compliance violations in regulated delivery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A single code commit can simultaneously violate multiple compliance domains: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SOX                    Unapproved change to a financial system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Application Security   Unresolved vulnerability deployed to production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Regulatory             Incorrect rate/APR calculation (TILA, RESPA)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Contractual SLA        48-hour remediation window missed ($50K penalty)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Fair Lending            Pricing logic changed without impact testing (ECOA)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Privacy                 PII crosses geographic boundary (GDPR, CCPA)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These are checked by different tools, owned by different teams, on different cycles.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Nobody connects the causal chain between them.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Violations discovered months later during audits.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Cost per incident: $50K - $500K.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Annual risk exposure: $5M - $10M per organization.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An autonomous agent that monitors the ecosystem and triggers all compliance checks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t>Solution: Regulith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An agent that sits on the delivery ecosystem (Git, Jenkins, Jira, Docker, AWS)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and when any change happens, evaluates ALL compliance domains simultaneously.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It does not replace existing tools. It connects them into one intelligent layer.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Processing Flow: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Event Occurs               Message Queue              Agent Layer                    Output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─────────────              ──────────────             ────────────                  ──────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Code commit                 ActiveMQ / SQS             Chain Reactor evaluates       Block or Allow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Infra change           ►    JMS Queue              ►   all 8 compliance         ►   Audit evidence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Access change               compliance-events          domains in &lt; 1 second        Score update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Regulatory update                                                                    Alert teams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All 8 compliance domains evaluated per event. Fully autonomous. No human intervention.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All triggered simultaneously from a single change — no silo, no gap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t>8 Compliance Domains Checked Per 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#    Domain                       What It Checks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─    ──────                       ──────────────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1    SOX ITGC                     Dual approval, segregation of duties, change docs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2    Application Security         SAST/DAST findings, CVE tracking, deployment gate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3    Regulatory                   TILA rate accuracy, RESPA, GDPR residency, DORA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4    Fair Lending                 Disparate impact when pricing/eligibility changes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5    Contractual (MSA/SLA)        Notification deadlines, SLA timers, penalty triggers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6    Privacy                      PII detection, consent, cross-border transfers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7    Infrastructure               Cloud misconfigs, IAM drift, encryption, backups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8    Audit Evidence               Auto-generated narrative for every change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Policy-driven: adding a new check = adding a policy object.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No code changes to the agents required.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Event-driven, policy-based, domain-agnostic agent pipeline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┌──────────────┐      ┌───────────────┐      ┌──────────────────────┐      ┌─────────────────┐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│              │      │               │      │                      │      │                 │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│  EVENT       │      │  MESSAGE      │      │  AGENT LAYER         │      │  OUTPUT         │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│  SOURCES     │─────►│  QUEUE        │─────►│                      │─────►│                 │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│              │      │               │      │  Chain Reactor Agent  │      │  Block / Allow  │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│  Git Hooks   │      │  ActiveMQ     │      │    Evaluates policies │      │  Audit Evidence │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│  Jenkins     │      │  (JMS)        │      │    across 8 domains   │      │  Score Update   │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│  Jira        │      │               │      │                      │      │  Dashboard      │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│  Docker      │      │               │      │  Audit Narrator Agent │      │  Alerts         │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│  AWS Config  │      │               │      │    Generates evidence │      │                 │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│  API / Postman│      │               │      │    (LLM optional)    │      │                 │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│              │      │               │      │                      │      │                 │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└──────────────┘      └───────────────┘      │  Policy Engine        │      └─────────────────┘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                                              │    15 rules            │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                                              │    9 verticals         │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                                              └──────────────────────┘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Data Layer: Database (H2 / PostgreSQL) — Events, Findings, Narratives, Client Profiles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LLM Layer: AWS Bedrock (Claude) — optional, for code understanding and narrative quality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Same agents, different policies. Zero code changes for a new industry.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t>Works Across Any Vertical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Vertical                         Applicable Frameworks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────────                         ─────────────────────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Mortgage / Banking               SOX, TILA, RESPA, ECOA, PCI-DSS, GLBA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Healthcare / Pharma              HIPAA, HITECH, FDA 21 CFR Part 11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Insurance                        SOX, NAIC Model Laws, CCPA, State Regs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Retail / E-commerce              PCI-DSS, CCPA, GDPR, SOX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Manufacturing                    ISO 27001, NIST, ITAR, Export Controls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Public Sector                    FedRAMP, FISMA, CMMC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Currently: 15 policies loaded across 9 verticals and 11 compliance domains.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To support a new client in a new industry: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Add policies to the Policy Engine configuration.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No changes to the Chain Reactor Agent or Audit Narrator Agent.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Deploy. Done.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Verified against 30+ products and platforms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t>This Does Not Exist in the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Category                        What They Do                    What They Miss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────────                        ────────────                    ──────────────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Compliance (Vanta, Drata)        Evidence for one company        No cross-domain reasoning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GRC (ServiceNow, Archer)         Risk registers                  Static, no event reaction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Security (Snyk, Checkmarx)       Detect vulnerabilities          No business impact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SOC (Panther, CrowdStrike)       Incident response               Security only, no SOX/reg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Audit (Fieldguide, AuditBoard)   Auditor workflow                Don't generate evidence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Regulatory (Regology)            Track reg changes               No per-client simulation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AI Models (GPT, Claude)          Answer when asked               Don't react autonomously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The gap nobody fills: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Ecosystem monitoring  +  Cross-domain policy evaluation  +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Autonomous evidence generation  +  Per-client context  +  Deployment blocking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No single product combines these capabilities today.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Quantified impact across savings, revenue, and strategic positioning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t>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Metric                                    Impact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──────                                    ──────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Audit preparation time                    Reduced by 70%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SLA breach penalties avoided              $500K - $2M per year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Findings caught before audit              80%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Developer compliance overhead             Reduced 20-30%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Event to compliance assessment            Under 1 second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Year 1 ROI (conservative)                175%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Revenue Opportunity: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    Premium managed service to clients: $20K - $50K / month per engagement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    Platform licensing to other IT services companies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    First mover in Delivery Compliance Intelligence category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Strategic Advantage: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    Domain-agnostic — works in any regulated industry</a:t>
            </a:r>
          </a:p>
          <a:p>
            <a:pPr>
              <a:spcAft>
                <a:spcPts val="5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     No competitor in IT services has this capability today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6" sz="quarter"/>
          </p:nvPr>
        </p:nvSpPr>
        <p:spPr/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Live Demo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>
              <a:defRPr sz="1400"/>
            </a:pPr>
            <a:r>
              <a:t>Working prototype available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Regulith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9260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5A5A"/>
                </a:solidFill>
                <a:latin typeface="Calibri"/>
              </a:defRPr>
            </a:pPr>
            <a:r>
              <a:t>Delivery Compliance Intelligence Platform</a:t>
            </a:r>
          </a:p>
          <a:p>
            <a:pPr>
              <a:defRPr sz="1300">
                <a:solidFill>
                  <a:srgbClr val="5A5A5A"/>
                </a:solidFill>
                <a:latin typeface="Calibri"/>
              </a:defRPr>
            </a:pPr>
          </a:p>
          <a:p>
            <a:pPr>
              <a:defRPr sz="1300">
                <a:solidFill>
                  <a:srgbClr val="5A5A5A"/>
                </a:solidFill>
                <a:latin typeface="Calibri"/>
              </a:defRPr>
            </a:pPr>
            <a:r>
              <a:t>One commit. Six compliance domains. Zero surprises.</a:t>
            </a:r>
          </a:p>
          <a:p>
            <a:pPr>
              <a:defRPr sz="1300">
                <a:solidFill>
                  <a:srgbClr val="5A5A5A"/>
                </a:solidFill>
                <a:latin typeface="Calibri"/>
              </a:defRPr>
            </a:pPr>
          </a:p>
          <a:p>
            <a:pPr>
              <a:defRPr sz="1300">
                <a:solidFill>
                  <a:srgbClr val="5A5A5A"/>
                </a:solidFill>
                <a:latin typeface="Calibri"/>
              </a:defRPr>
            </a:pPr>
            <a:r>
              <a:t>Working prototype ready for demo.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xaware Master">
  <a:themeElements>
    <a:clrScheme name="Custom 4">
      <a:dk1>
        <a:srgbClr val="000000"/>
      </a:dk1>
      <a:lt1>
        <a:srgbClr val="FFFFFF"/>
      </a:lt1>
      <a:dk2>
        <a:srgbClr val="07125E"/>
      </a:dk2>
      <a:lt2>
        <a:srgbClr val="FFFFFF"/>
      </a:lt2>
      <a:accent1>
        <a:srgbClr val="3C2CDA"/>
      </a:accent1>
      <a:accent2>
        <a:srgbClr val="1D86FF"/>
      </a:accent2>
      <a:accent3>
        <a:srgbClr val="14CBDE"/>
      </a:accent3>
      <a:accent4>
        <a:srgbClr val="07125E"/>
      </a:accent4>
      <a:accent5>
        <a:srgbClr val="8088A7"/>
      </a:accent5>
      <a:accent6>
        <a:srgbClr val="EA9D00"/>
      </a:accent6>
      <a:hlink>
        <a:srgbClr val="3C2CDA"/>
      </a:hlink>
      <a:folHlink>
        <a:srgbClr val="14CBDE"/>
      </a:folHlink>
    </a:clrScheme>
    <a:fontScheme name="Hexaware">
      <a:majorFont>
        <a:latin typeface="Manrope Light"/>
        <a:ea typeface="Helvetica Neue Medium"/>
        <a:cs typeface="Helvetica Neue Medium"/>
      </a:majorFont>
      <a:minorFont>
        <a:latin typeface="Manrop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Light_Corporate Template.pptx" id="{41E689D6-C531-47CC-AFF0-309785A80631}" vid="{C5795010-44E4-4FE2-851A-4FC5D2C485C8}"/>
    </a:ext>
  </a:extLst>
</a:theme>
</file>

<file path=ppt/theme/theme2.xml><?xml version="1.0" encoding="utf-8"?>
<a:theme xmlns:a="http://schemas.openxmlformats.org/drawingml/2006/main" name="1_Hexaware Master">
  <a:themeElements>
    <a:clrScheme name="Hexaware">
      <a:dk1>
        <a:srgbClr val="02051C"/>
      </a:dk1>
      <a:lt1>
        <a:srgbClr val="FFFFFF"/>
      </a:lt1>
      <a:dk2>
        <a:srgbClr val="07125E"/>
      </a:dk2>
      <a:lt2>
        <a:srgbClr val="FFFFFF"/>
      </a:lt2>
      <a:accent1>
        <a:srgbClr val="3C2DDA"/>
      </a:accent1>
      <a:accent2>
        <a:srgbClr val="1D86FF"/>
      </a:accent2>
      <a:accent3>
        <a:srgbClr val="14CBDE"/>
      </a:accent3>
      <a:accent4>
        <a:srgbClr val="07125E"/>
      </a:accent4>
      <a:accent5>
        <a:srgbClr val="8088A7"/>
      </a:accent5>
      <a:accent6>
        <a:srgbClr val="FF6300"/>
      </a:accent6>
      <a:hlink>
        <a:srgbClr val="3C2DDA"/>
      </a:hlink>
      <a:folHlink>
        <a:srgbClr val="14CBDE"/>
      </a:folHlink>
    </a:clrScheme>
    <a:fontScheme name="Hexaware">
      <a:majorFont>
        <a:latin typeface="Manrope Light"/>
        <a:ea typeface="Helvetica Neue Medium"/>
        <a:cs typeface="Helvetica Neue Medium"/>
      </a:majorFont>
      <a:minorFont>
        <a:latin typeface="Manrop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Dark_Corporate Template.pptx" id="{0DE496D9-96E7-4561-826E-A79144D83BB8}" vid="{7132E963-DE00-4AC0-86D2-3969C5A95D72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Light_Corporate Template</Template>
  <TotalTime>1371</TotalTime>
  <Words>53</Words>
  <Application>Microsoft Office PowerPoint</Application>
  <PresentationFormat>Widescreen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Manrope</vt:lpstr>
      <vt:lpstr>Hexaware Master</vt:lpstr>
      <vt:lpstr>1_Hexaware Master</vt:lpstr>
      <vt:lpstr>Use case Name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Overview</dc:title>
  <dc:creator>Danielle Sanders</dc:creator>
  <cp:lastModifiedBy>Sneha Marbal</cp:lastModifiedBy>
  <cp:revision>22</cp:revision>
  <dcterms:created xsi:type="dcterms:W3CDTF">2023-12-01T15:20:00Z</dcterms:created>
  <dcterms:modified xsi:type="dcterms:W3CDTF">2026-04-22T05:33:38Z</dcterms:modified>
</cp:coreProperties>
</file>